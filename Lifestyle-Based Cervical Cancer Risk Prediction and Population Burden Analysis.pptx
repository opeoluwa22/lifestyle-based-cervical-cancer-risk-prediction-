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5"/>
  </p:notesMasterIdLst>
  <p:handoutMasterIdLst>
    <p:handoutMasterId r:id="rId26"/>
  </p:handoutMasterIdLst>
  <p:sldIdLst>
    <p:sldId id="256" r:id="rId5"/>
    <p:sldId id="278" r:id="rId6"/>
    <p:sldId id="258" r:id="rId7"/>
    <p:sldId id="279" r:id="rId8"/>
    <p:sldId id="281" r:id="rId9"/>
    <p:sldId id="266" r:id="rId10"/>
    <p:sldId id="257" r:id="rId11"/>
    <p:sldId id="282" r:id="rId12"/>
    <p:sldId id="280" r:id="rId13"/>
    <p:sldId id="283" r:id="rId14"/>
    <p:sldId id="286" r:id="rId15"/>
    <p:sldId id="271" r:id="rId16"/>
    <p:sldId id="285" r:id="rId17"/>
    <p:sldId id="284" r:id="rId18"/>
    <p:sldId id="287" r:id="rId19"/>
    <p:sldId id="288" r:id="rId20"/>
    <p:sldId id="289" r:id="rId21"/>
    <p:sldId id="290" r:id="rId22"/>
    <p:sldId id="291" r:id="rId23"/>
    <p:sldId id="29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5" autoAdjust="0"/>
    <p:restoredTop sz="90680" autoAdjust="0"/>
  </p:normalViewPr>
  <p:slideViewPr>
    <p:cSldViewPr snapToGrid="0">
      <p:cViewPr varScale="1">
        <p:scale>
          <a:sx n="68" d="100"/>
          <a:sy n="68" d="100"/>
        </p:scale>
        <p:origin x="846" y="66"/>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6E9008-C169-A740-A7FB-7C74B8492313}" type="doc">
      <dgm:prSet loTypeId="urn:microsoft.com/office/officeart/2005/8/layout/vList2" loCatId="list" qsTypeId="urn:microsoft.com/office/officeart/2005/8/quickstyle/3d2" qsCatId="3D" csTypeId="urn:microsoft.com/office/officeart/2005/8/colors/accent1_2" csCatId="accent1" phldr="1"/>
      <dgm:spPr/>
      <dgm:t>
        <a:bodyPr/>
        <a:lstStyle/>
        <a:p>
          <a:endParaRPr lang="en-GB"/>
        </a:p>
      </dgm:t>
    </dgm:pt>
    <dgm:pt modelId="{664D9620-AB4D-2D4F-85AD-8C39B2722F50}">
      <dgm:prSet custT="1"/>
      <dgm:spPr/>
      <dgm:t>
        <a:bodyPr/>
        <a:lstStyle/>
        <a:p>
          <a:pPr algn="ctr"/>
          <a:r>
            <a:rPr lang="en-GB" sz="1600" b="0" i="1" baseline="0" dirty="0">
              <a:solidFill>
                <a:schemeClr val="tx1"/>
              </a:solidFill>
            </a:rPr>
            <a:t>“How can lifestyle-based cervical cancer risk prediction models developed from individual-level datasets be used to inform disease burden patterns in West African populations?”</a:t>
          </a:r>
          <a:endParaRPr lang="en-GB" sz="1600" b="0" i="1" dirty="0">
            <a:solidFill>
              <a:schemeClr val="tx1"/>
            </a:solidFill>
          </a:endParaRPr>
        </a:p>
      </dgm:t>
    </dgm:pt>
    <dgm:pt modelId="{3FF60CE6-18EB-A240-B63C-F94E1C22F9C9}" type="parTrans" cxnId="{DBB48426-6992-374C-AA1D-0630B515D53B}">
      <dgm:prSet/>
      <dgm:spPr/>
      <dgm:t>
        <a:bodyPr/>
        <a:lstStyle/>
        <a:p>
          <a:endParaRPr lang="en-GB"/>
        </a:p>
      </dgm:t>
    </dgm:pt>
    <dgm:pt modelId="{5328B7D0-4EDE-F442-9064-F328422DD4DF}" type="sibTrans" cxnId="{DBB48426-6992-374C-AA1D-0630B515D53B}">
      <dgm:prSet/>
      <dgm:spPr/>
      <dgm:t>
        <a:bodyPr/>
        <a:lstStyle/>
        <a:p>
          <a:endParaRPr lang="en-GB"/>
        </a:p>
      </dgm:t>
    </dgm:pt>
    <dgm:pt modelId="{8911DF0D-62AE-974D-8F02-91F59FDE62FD}" type="pres">
      <dgm:prSet presAssocID="{2A6E9008-C169-A740-A7FB-7C74B8492313}" presName="linear" presStyleCnt="0">
        <dgm:presLayoutVars>
          <dgm:animLvl val="lvl"/>
          <dgm:resizeHandles val="exact"/>
        </dgm:presLayoutVars>
      </dgm:prSet>
      <dgm:spPr/>
    </dgm:pt>
    <dgm:pt modelId="{E30CD339-0B3B-894F-93D8-FCF610E062B9}" type="pres">
      <dgm:prSet presAssocID="{664D9620-AB4D-2D4F-85AD-8C39B2722F50}" presName="parentText" presStyleLbl="node1" presStyleIdx="0" presStyleCnt="1" custLinFactNeighborX="-4072" custLinFactNeighborY="-17421">
        <dgm:presLayoutVars>
          <dgm:chMax val="0"/>
          <dgm:bulletEnabled val="1"/>
        </dgm:presLayoutVars>
      </dgm:prSet>
      <dgm:spPr/>
    </dgm:pt>
  </dgm:ptLst>
  <dgm:cxnLst>
    <dgm:cxn modelId="{CFE41E0A-6973-E24A-8E20-8CD1392761C7}" type="presOf" srcId="{664D9620-AB4D-2D4F-85AD-8C39B2722F50}" destId="{E30CD339-0B3B-894F-93D8-FCF610E062B9}" srcOrd="0" destOrd="0" presId="urn:microsoft.com/office/officeart/2005/8/layout/vList2"/>
    <dgm:cxn modelId="{DBB48426-6992-374C-AA1D-0630B515D53B}" srcId="{2A6E9008-C169-A740-A7FB-7C74B8492313}" destId="{664D9620-AB4D-2D4F-85AD-8C39B2722F50}" srcOrd="0" destOrd="0" parTransId="{3FF60CE6-18EB-A240-B63C-F94E1C22F9C9}" sibTransId="{5328B7D0-4EDE-F442-9064-F328422DD4DF}"/>
    <dgm:cxn modelId="{4B17F177-DE12-F94B-BFFE-338CA1A804B7}" type="presOf" srcId="{2A6E9008-C169-A740-A7FB-7C74B8492313}" destId="{8911DF0D-62AE-974D-8F02-91F59FDE62FD}" srcOrd="0" destOrd="0" presId="urn:microsoft.com/office/officeart/2005/8/layout/vList2"/>
    <dgm:cxn modelId="{D801E256-83E3-5246-BBA0-4B5B66E1195E}" type="presParOf" srcId="{8911DF0D-62AE-974D-8F02-91F59FDE62FD}" destId="{E30CD339-0B3B-894F-93D8-FCF610E062B9}"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69E8EE-A7D0-AD4C-8D0F-0636ABE73370}" type="doc">
      <dgm:prSet loTypeId="urn:microsoft.com/office/officeart/2005/8/layout/vList2" loCatId="list" qsTypeId="urn:microsoft.com/office/officeart/2005/8/quickstyle/3d2" qsCatId="3D" csTypeId="urn:microsoft.com/office/officeart/2005/8/colors/accent1_2" csCatId="accent1"/>
      <dgm:spPr/>
      <dgm:t>
        <a:bodyPr/>
        <a:lstStyle/>
        <a:p>
          <a:endParaRPr lang="en-GB"/>
        </a:p>
      </dgm:t>
    </dgm:pt>
    <dgm:pt modelId="{1D7337CF-8561-3E45-B3B9-93A9A7EDA51B}">
      <dgm:prSet/>
      <dgm:spPr/>
      <dgm:t>
        <a:bodyPr/>
        <a:lstStyle/>
        <a:p>
          <a:r>
            <a:rPr lang="en-US" b="0" i="0" baseline="0" dirty="0">
              <a:solidFill>
                <a:schemeClr val="tx1"/>
              </a:solidFill>
            </a:rPr>
            <a:t>Previous studies have shown that machine learning can be used to predict cervical cancer risk from </a:t>
          </a:r>
          <a:r>
            <a:rPr lang="en-US" b="0" i="0" baseline="0" dirty="0" err="1">
              <a:solidFill>
                <a:schemeClr val="tx1"/>
              </a:solidFill>
            </a:rPr>
            <a:t>behavioural</a:t>
          </a:r>
          <a:r>
            <a:rPr lang="en-US" b="0" i="0" baseline="0" dirty="0">
              <a:solidFill>
                <a:schemeClr val="tx1"/>
              </a:solidFill>
            </a:rPr>
            <a:t> and clinical variables.</a:t>
          </a:r>
          <a:br>
            <a:rPr lang="en-US" b="0" i="0" baseline="0" dirty="0">
              <a:solidFill>
                <a:schemeClr val="tx1"/>
              </a:solidFill>
            </a:rPr>
          </a:br>
          <a:r>
            <a:rPr lang="en-US" b="0" i="0" baseline="0" dirty="0">
              <a:solidFill>
                <a:schemeClr val="tx1"/>
              </a:solidFill>
            </a:rPr>
            <a:t>However, most of these studies focus only on </a:t>
          </a:r>
          <a:r>
            <a:rPr lang="en-US" b="1" i="0" baseline="0" dirty="0">
              <a:solidFill>
                <a:schemeClr val="tx1"/>
              </a:solidFill>
            </a:rPr>
            <a:t>model accuracy</a:t>
          </a:r>
          <a:r>
            <a:rPr lang="en-US" b="0" i="0" baseline="0" dirty="0">
              <a:solidFill>
                <a:schemeClr val="tx1"/>
              </a:solidFill>
            </a:rPr>
            <a:t> using a single dataset.</a:t>
          </a:r>
          <a:endParaRPr lang="en-GB" dirty="0">
            <a:solidFill>
              <a:schemeClr val="tx1"/>
            </a:solidFill>
          </a:endParaRPr>
        </a:p>
      </dgm:t>
    </dgm:pt>
    <dgm:pt modelId="{4B00B79B-ECC2-6F41-93A2-439F44CEB61F}" type="parTrans" cxnId="{AD9BCAED-CE95-AF4E-8BE4-24B918060F95}">
      <dgm:prSet/>
      <dgm:spPr/>
      <dgm:t>
        <a:bodyPr/>
        <a:lstStyle/>
        <a:p>
          <a:endParaRPr lang="en-GB"/>
        </a:p>
      </dgm:t>
    </dgm:pt>
    <dgm:pt modelId="{4561A073-91B9-7345-8D5C-184D89BE0764}" type="sibTrans" cxnId="{AD9BCAED-CE95-AF4E-8BE4-24B918060F95}">
      <dgm:prSet/>
      <dgm:spPr/>
      <dgm:t>
        <a:bodyPr/>
        <a:lstStyle/>
        <a:p>
          <a:endParaRPr lang="en-GB"/>
        </a:p>
      </dgm:t>
    </dgm:pt>
    <dgm:pt modelId="{DD9AF39E-1659-4246-8CBC-C6D684EC711F}">
      <dgm:prSet/>
      <dgm:spPr/>
      <dgm:t>
        <a:bodyPr/>
        <a:lstStyle/>
        <a:p>
          <a:r>
            <a:rPr lang="en-US" b="0" i="0" baseline="0" dirty="0">
              <a:solidFill>
                <a:schemeClr val="tx1"/>
              </a:solidFill>
            </a:rPr>
            <a:t>This project goes further by also </a:t>
          </a:r>
          <a:r>
            <a:rPr lang="en-US" b="0" i="0" baseline="0" dirty="0" err="1">
              <a:solidFill>
                <a:schemeClr val="tx1"/>
              </a:solidFill>
            </a:rPr>
            <a:t>analysing</a:t>
          </a:r>
          <a:r>
            <a:rPr lang="en-US" b="0" i="0" baseline="0" dirty="0">
              <a:solidFill>
                <a:schemeClr val="tx1"/>
              </a:solidFill>
            </a:rPr>
            <a:t> </a:t>
          </a:r>
          <a:r>
            <a:rPr lang="en-US" b="1" i="0" baseline="0" dirty="0">
              <a:solidFill>
                <a:schemeClr val="tx1"/>
              </a:solidFill>
            </a:rPr>
            <a:t>incidence and prevalence trends in West Africa</a:t>
          </a:r>
          <a:r>
            <a:rPr lang="en-US" b="0" i="0" baseline="0" dirty="0">
              <a:solidFill>
                <a:schemeClr val="tx1"/>
              </a:solidFill>
            </a:rPr>
            <a:t>, linking individual risk prediction with population-level patterns.</a:t>
          </a:r>
          <a:endParaRPr lang="en-GB" dirty="0">
            <a:solidFill>
              <a:schemeClr val="tx1"/>
            </a:solidFill>
          </a:endParaRPr>
        </a:p>
      </dgm:t>
    </dgm:pt>
    <dgm:pt modelId="{A9BD17AD-3C0B-4040-8668-134B8FBF462C}" type="parTrans" cxnId="{D5FAD7EC-A9F2-0C4A-82F4-42244F6BB02C}">
      <dgm:prSet/>
      <dgm:spPr/>
      <dgm:t>
        <a:bodyPr/>
        <a:lstStyle/>
        <a:p>
          <a:endParaRPr lang="en-GB"/>
        </a:p>
      </dgm:t>
    </dgm:pt>
    <dgm:pt modelId="{9178DCCF-5E02-B74D-8188-D1A8EFE59013}" type="sibTrans" cxnId="{D5FAD7EC-A9F2-0C4A-82F4-42244F6BB02C}">
      <dgm:prSet/>
      <dgm:spPr/>
      <dgm:t>
        <a:bodyPr/>
        <a:lstStyle/>
        <a:p>
          <a:endParaRPr lang="en-GB"/>
        </a:p>
      </dgm:t>
    </dgm:pt>
    <dgm:pt modelId="{4B72CF61-27DA-CE4E-B908-DF58477CAF70}" type="pres">
      <dgm:prSet presAssocID="{2F69E8EE-A7D0-AD4C-8D0F-0636ABE73370}" presName="linear" presStyleCnt="0">
        <dgm:presLayoutVars>
          <dgm:animLvl val="lvl"/>
          <dgm:resizeHandles val="exact"/>
        </dgm:presLayoutVars>
      </dgm:prSet>
      <dgm:spPr/>
    </dgm:pt>
    <dgm:pt modelId="{F86E8D42-0848-1E4D-A3A4-E4C2D375E843}" type="pres">
      <dgm:prSet presAssocID="{1D7337CF-8561-3E45-B3B9-93A9A7EDA51B}" presName="parentText" presStyleLbl="node1" presStyleIdx="0" presStyleCnt="2">
        <dgm:presLayoutVars>
          <dgm:chMax val="0"/>
          <dgm:bulletEnabled val="1"/>
        </dgm:presLayoutVars>
      </dgm:prSet>
      <dgm:spPr/>
    </dgm:pt>
    <dgm:pt modelId="{91027273-1671-B440-B90E-14A98028C238}" type="pres">
      <dgm:prSet presAssocID="{4561A073-91B9-7345-8D5C-184D89BE0764}" presName="spacer" presStyleCnt="0"/>
      <dgm:spPr/>
    </dgm:pt>
    <dgm:pt modelId="{B6F1DBF3-FFA1-B042-8CCB-3B49B7E2AFB6}" type="pres">
      <dgm:prSet presAssocID="{DD9AF39E-1659-4246-8CBC-C6D684EC711F}" presName="parentText" presStyleLbl="node1" presStyleIdx="1" presStyleCnt="2">
        <dgm:presLayoutVars>
          <dgm:chMax val="0"/>
          <dgm:bulletEnabled val="1"/>
        </dgm:presLayoutVars>
      </dgm:prSet>
      <dgm:spPr/>
    </dgm:pt>
  </dgm:ptLst>
  <dgm:cxnLst>
    <dgm:cxn modelId="{AB70F32B-A09C-0C45-A2F7-D55A5BB63BAA}" type="presOf" srcId="{1D7337CF-8561-3E45-B3B9-93A9A7EDA51B}" destId="{F86E8D42-0848-1E4D-A3A4-E4C2D375E843}" srcOrd="0" destOrd="0" presId="urn:microsoft.com/office/officeart/2005/8/layout/vList2"/>
    <dgm:cxn modelId="{97EA2FC2-6895-7545-9994-DC203943BE04}" type="presOf" srcId="{DD9AF39E-1659-4246-8CBC-C6D684EC711F}" destId="{B6F1DBF3-FFA1-B042-8CCB-3B49B7E2AFB6}" srcOrd="0" destOrd="0" presId="urn:microsoft.com/office/officeart/2005/8/layout/vList2"/>
    <dgm:cxn modelId="{BB1D6DC5-138C-8D4C-BE09-C2B6BDE9B315}" type="presOf" srcId="{2F69E8EE-A7D0-AD4C-8D0F-0636ABE73370}" destId="{4B72CF61-27DA-CE4E-B908-DF58477CAF70}" srcOrd="0" destOrd="0" presId="urn:microsoft.com/office/officeart/2005/8/layout/vList2"/>
    <dgm:cxn modelId="{D5FAD7EC-A9F2-0C4A-82F4-42244F6BB02C}" srcId="{2F69E8EE-A7D0-AD4C-8D0F-0636ABE73370}" destId="{DD9AF39E-1659-4246-8CBC-C6D684EC711F}" srcOrd="1" destOrd="0" parTransId="{A9BD17AD-3C0B-4040-8668-134B8FBF462C}" sibTransId="{9178DCCF-5E02-B74D-8188-D1A8EFE59013}"/>
    <dgm:cxn modelId="{AD9BCAED-CE95-AF4E-8BE4-24B918060F95}" srcId="{2F69E8EE-A7D0-AD4C-8D0F-0636ABE73370}" destId="{1D7337CF-8561-3E45-B3B9-93A9A7EDA51B}" srcOrd="0" destOrd="0" parTransId="{4B00B79B-ECC2-6F41-93A2-439F44CEB61F}" sibTransId="{4561A073-91B9-7345-8D5C-184D89BE0764}"/>
    <dgm:cxn modelId="{C182CEFD-B3A4-7A40-9351-12F638020AD6}" type="presParOf" srcId="{4B72CF61-27DA-CE4E-B908-DF58477CAF70}" destId="{F86E8D42-0848-1E4D-A3A4-E4C2D375E843}" srcOrd="0" destOrd="0" presId="urn:microsoft.com/office/officeart/2005/8/layout/vList2"/>
    <dgm:cxn modelId="{85255C24-728B-BC4C-BF1F-B8797050B5C5}" type="presParOf" srcId="{4B72CF61-27DA-CE4E-B908-DF58477CAF70}" destId="{91027273-1671-B440-B90E-14A98028C238}" srcOrd="1" destOrd="0" presId="urn:microsoft.com/office/officeart/2005/8/layout/vList2"/>
    <dgm:cxn modelId="{6D7234C8-F2A1-B343-B544-5C7D8ADF50CB}" type="presParOf" srcId="{4B72CF61-27DA-CE4E-B908-DF58477CAF70}" destId="{B6F1DBF3-FFA1-B042-8CCB-3B49B7E2AFB6}" srcOrd="2"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566C2C4-9A12-2C47-A662-9FDD3B211124}" type="doc">
      <dgm:prSet loTypeId="urn:microsoft.com/office/officeart/2005/8/layout/vList2" loCatId="list" qsTypeId="urn:microsoft.com/office/officeart/2005/8/quickstyle/3d2" qsCatId="3D" csTypeId="urn:microsoft.com/office/officeart/2005/8/colors/accent0_1" csCatId="mainScheme"/>
      <dgm:spPr/>
      <dgm:t>
        <a:bodyPr/>
        <a:lstStyle/>
        <a:p>
          <a:endParaRPr lang="en-GB"/>
        </a:p>
      </dgm:t>
    </dgm:pt>
    <dgm:pt modelId="{6F0BFC6F-9DAE-9E40-9606-E84AF7AD76F0}">
      <dgm:prSet/>
      <dgm:spPr/>
      <dgm:t>
        <a:bodyPr/>
        <a:lstStyle/>
        <a:p>
          <a:r>
            <a:rPr lang="en-GB" dirty="0"/>
            <a:t>The UCI cervical cancer dataset is anonymised, reducing the risk of exposing personal or sensitive information.</a:t>
          </a:r>
        </a:p>
      </dgm:t>
    </dgm:pt>
    <dgm:pt modelId="{1FF13F29-4BE4-884B-AA41-DEDE448B7F7A}" type="parTrans" cxnId="{D18D3E19-40FD-7941-B0B6-652B0817DEA9}">
      <dgm:prSet/>
      <dgm:spPr/>
      <dgm:t>
        <a:bodyPr/>
        <a:lstStyle/>
        <a:p>
          <a:endParaRPr lang="en-GB">
            <a:solidFill>
              <a:schemeClr val="tx1"/>
            </a:solidFill>
          </a:endParaRPr>
        </a:p>
      </dgm:t>
    </dgm:pt>
    <dgm:pt modelId="{524EAD56-E5CF-A040-BF66-032A05E96162}" type="sibTrans" cxnId="{D18D3E19-40FD-7941-B0B6-652B0817DEA9}">
      <dgm:prSet/>
      <dgm:spPr/>
      <dgm:t>
        <a:bodyPr/>
        <a:lstStyle/>
        <a:p>
          <a:endParaRPr lang="en-GB">
            <a:solidFill>
              <a:schemeClr val="tx1"/>
            </a:solidFill>
          </a:endParaRPr>
        </a:p>
      </dgm:t>
    </dgm:pt>
    <dgm:pt modelId="{376CE159-A768-6B43-B73A-77323B443A9B}">
      <dgm:prSet/>
      <dgm:spPr/>
      <dgm:t>
        <a:bodyPr/>
        <a:lstStyle/>
        <a:p>
          <a:r>
            <a:rPr lang="en-GB"/>
            <a:t>The GBD IHME dataset contains aggregated data, meaning no individual-level identifiers are included.</a:t>
          </a:r>
        </a:p>
      </dgm:t>
    </dgm:pt>
    <dgm:pt modelId="{64E4205F-1CD9-B447-A4DB-36441087CF1D}" type="parTrans" cxnId="{CF6E43E1-4CAF-4540-90F5-122B1C7F24C0}">
      <dgm:prSet/>
      <dgm:spPr/>
      <dgm:t>
        <a:bodyPr/>
        <a:lstStyle/>
        <a:p>
          <a:endParaRPr lang="en-GB">
            <a:solidFill>
              <a:schemeClr val="tx1"/>
            </a:solidFill>
          </a:endParaRPr>
        </a:p>
      </dgm:t>
    </dgm:pt>
    <dgm:pt modelId="{075B42CF-69BF-8345-991B-C5955D56149C}" type="sibTrans" cxnId="{CF6E43E1-4CAF-4540-90F5-122B1C7F24C0}">
      <dgm:prSet/>
      <dgm:spPr/>
      <dgm:t>
        <a:bodyPr/>
        <a:lstStyle/>
        <a:p>
          <a:endParaRPr lang="en-GB">
            <a:solidFill>
              <a:schemeClr val="tx1"/>
            </a:solidFill>
          </a:endParaRPr>
        </a:p>
      </dgm:t>
    </dgm:pt>
    <dgm:pt modelId="{F4806620-239A-144B-B90B-61E9F25ADDED}">
      <dgm:prSet/>
      <dgm:spPr/>
      <dgm:t>
        <a:bodyPr/>
        <a:lstStyle/>
        <a:p>
          <a:r>
            <a:rPr lang="en-GB"/>
            <a:t>The dataset may introduce bias, as it may not fully represent West African populations, affecting model generalisation.</a:t>
          </a:r>
        </a:p>
      </dgm:t>
    </dgm:pt>
    <dgm:pt modelId="{065E3AC5-8D6A-2147-98EF-3E5712CD66B6}" type="parTrans" cxnId="{EB97DFFE-D795-204A-AC56-DF0D9504F7B2}">
      <dgm:prSet/>
      <dgm:spPr/>
      <dgm:t>
        <a:bodyPr/>
        <a:lstStyle/>
        <a:p>
          <a:endParaRPr lang="en-GB">
            <a:solidFill>
              <a:schemeClr val="tx1"/>
            </a:solidFill>
          </a:endParaRPr>
        </a:p>
      </dgm:t>
    </dgm:pt>
    <dgm:pt modelId="{18DC7F6A-DB99-FD49-9663-C66E2930990D}" type="sibTrans" cxnId="{EB97DFFE-D795-204A-AC56-DF0D9504F7B2}">
      <dgm:prSet/>
      <dgm:spPr/>
      <dgm:t>
        <a:bodyPr/>
        <a:lstStyle/>
        <a:p>
          <a:endParaRPr lang="en-GB">
            <a:solidFill>
              <a:schemeClr val="tx1"/>
            </a:solidFill>
          </a:endParaRPr>
        </a:p>
      </dgm:t>
    </dgm:pt>
    <dgm:pt modelId="{BB37F554-AF5E-3F48-9181-463643234623}">
      <dgm:prSet/>
      <dgm:spPr/>
      <dgm:t>
        <a:bodyPr/>
        <a:lstStyle/>
        <a:p>
          <a:r>
            <a:rPr lang="en-GB"/>
            <a:t>Machine learning predictions should be used as supportive tools and not as a replacement for clinical decision-making.</a:t>
          </a:r>
        </a:p>
      </dgm:t>
    </dgm:pt>
    <dgm:pt modelId="{D6943747-8007-C249-B473-FA1E045F6387}" type="parTrans" cxnId="{E6E6BCA6-44D0-1847-AB2D-C88D1424CAB9}">
      <dgm:prSet/>
      <dgm:spPr/>
      <dgm:t>
        <a:bodyPr/>
        <a:lstStyle/>
        <a:p>
          <a:endParaRPr lang="en-GB">
            <a:solidFill>
              <a:schemeClr val="tx1"/>
            </a:solidFill>
          </a:endParaRPr>
        </a:p>
      </dgm:t>
    </dgm:pt>
    <dgm:pt modelId="{4EBD545B-9488-7745-A673-A6764AB09318}" type="sibTrans" cxnId="{E6E6BCA6-44D0-1847-AB2D-C88D1424CAB9}">
      <dgm:prSet/>
      <dgm:spPr/>
      <dgm:t>
        <a:bodyPr/>
        <a:lstStyle/>
        <a:p>
          <a:endParaRPr lang="en-GB">
            <a:solidFill>
              <a:schemeClr val="tx1"/>
            </a:solidFill>
          </a:endParaRPr>
        </a:p>
      </dgm:t>
    </dgm:pt>
    <dgm:pt modelId="{BD522542-74DA-164B-AF5E-2353589E4EFC}">
      <dgm:prSet/>
      <dgm:spPr/>
      <dgm:t>
        <a:bodyPr/>
        <a:lstStyle/>
        <a:p>
          <a:r>
            <a:rPr lang="en-GB"/>
            <a:t>Transparency in data processing and model development is essential to ensure reliability and reproducibility of results.</a:t>
          </a:r>
        </a:p>
      </dgm:t>
    </dgm:pt>
    <dgm:pt modelId="{ED10C3C8-C53F-444F-8E2B-A55C722D1E58}" type="parTrans" cxnId="{C96D9F2C-1ABF-814C-89C9-43AD4140C813}">
      <dgm:prSet/>
      <dgm:spPr/>
      <dgm:t>
        <a:bodyPr/>
        <a:lstStyle/>
        <a:p>
          <a:endParaRPr lang="en-GB">
            <a:solidFill>
              <a:schemeClr val="tx1"/>
            </a:solidFill>
          </a:endParaRPr>
        </a:p>
      </dgm:t>
    </dgm:pt>
    <dgm:pt modelId="{540620FF-DBEE-4C4D-818F-72A4F4719287}" type="sibTrans" cxnId="{C96D9F2C-1ABF-814C-89C9-43AD4140C813}">
      <dgm:prSet/>
      <dgm:spPr/>
      <dgm:t>
        <a:bodyPr/>
        <a:lstStyle/>
        <a:p>
          <a:endParaRPr lang="en-GB">
            <a:solidFill>
              <a:schemeClr val="tx1"/>
            </a:solidFill>
          </a:endParaRPr>
        </a:p>
      </dgm:t>
    </dgm:pt>
    <dgm:pt modelId="{F7729EF8-CC54-E74E-861D-48B9DA3787F0}" type="pres">
      <dgm:prSet presAssocID="{0566C2C4-9A12-2C47-A662-9FDD3B211124}" presName="linear" presStyleCnt="0">
        <dgm:presLayoutVars>
          <dgm:animLvl val="lvl"/>
          <dgm:resizeHandles val="exact"/>
        </dgm:presLayoutVars>
      </dgm:prSet>
      <dgm:spPr/>
    </dgm:pt>
    <dgm:pt modelId="{5E54FC09-720C-C84F-BA01-9E3CFED56B29}" type="pres">
      <dgm:prSet presAssocID="{6F0BFC6F-9DAE-9E40-9606-E84AF7AD76F0}" presName="parentText" presStyleLbl="node1" presStyleIdx="0" presStyleCnt="5">
        <dgm:presLayoutVars>
          <dgm:chMax val="0"/>
          <dgm:bulletEnabled val="1"/>
        </dgm:presLayoutVars>
      </dgm:prSet>
      <dgm:spPr/>
    </dgm:pt>
    <dgm:pt modelId="{1AC65325-F1A6-0140-9FEE-728290AA7657}" type="pres">
      <dgm:prSet presAssocID="{524EAD56-E5CF-A040-BF66-032A05E96162}" presName="spacer" presStyleCnt="0"/>
      <dgm:spPr/>
    </dgm:pt>
    <dgm:pt modelId="{0A4F160B-3ACC-6B40-8517-1AA0EF8218B9}" type="pres">
      <dgm:prSet presAssocID="{376CE159-A768-6B43-B73A-77323B443A9B}" presName="parentText" presStyleLbl="node1" presStyleIdx="1" presStyleCnt="5">
        <dgm:presLayoutVars>
          <dgm:chMax val="0"/>
          <dgm:bulletEnabled val="1"/>
        </dgm:presLayoutVars>
      </dgm:prSet>
      <dgm:spPr/>
    </dgm:pt>
    <dgm:pt modelId="{3BDDC2BB-AF06-3F40-8BAE-24E7B0245277}" type="pres">
      <dgm:prSet presAssocID="{075B42CF-69BF-8345-991B-C5955D56149C}" presName="spacer" presStyleCnt="0"/>
      <dgm:spPr/>
    </dgm:pt>
    <dgm:pt modelId="{408DA3FC-07A8-3A4C-B275-7E61B1A90E7C}" type="pres">
      <dgm:prSet presAssocID="{F4806620-239A-144B-B90B-61E9F25ADDED}" presName="parentText" presStyleLbl="node1" presStyleIdx="2" presStyleCnt="5">
        <dgm:presLayoutVars>
          <dgm:chMax val="0"/>
          <dgm:bulletEnabled val="1"/>
        </dgm:presLayoutVars>
      </dgm:prSet>
      <dgm:spPr/>
    </dgm:pt>
    <dgm:pt modelId="{F725495D-0FFC-F843-B4FF-CA6E0C08A3DB}" type="pres">
      <dgm:prSet presAssocID="{18DC7F6A-DB99-FD49-9663-C66E2930990D}" presName="spacer" presStyleCnt="0"/>
      <dgm:spPr/>
    </dgm:pt>
    <dgm:pt modelId="{13CB58DF-C614-1045-8D5D-42C91EAC0811}" type="pres">
      <dgm:prSet presAssocID="{BB37F554-AF5E-3F48-9181-463643234623}" presName="parentText" presStyleLbl="node1" presStyleIdx="3" presStyleCnt="5">
        <dgm:presLayoutVars>
          <dgm:chMax val="0"/>
          <dgm:bulletEnabled val="1"/>
        </dgm:presLayoutVars>
      </dgm:prSet>
      <dgm:spPr/>
    </dgm:pt>
    <dgm:pt modelId="{677AB3E3-3878-AA4F-91C6-045FCD9D3B9B}" type="pres">
      <dgm:prSet presAssocID="{4EBD545B-9488-7745-A673-A6764AB09318}" presName="spacer" presStyleCnt="0"/>
      <dgm:spPr/>
    </dgm:pt>
    <dgm:pt modelId="{2EEAEABB-3695-C04C-A772-E05C11D1DF44}" type="pres">
      <dgm:prSet presAssocID="{BD522542-74DA-164B-AF5E-2353589E4EFC}" presName="parentText" presStyleLbl="node1" presStyleIdx="4" presStyleCnt="5">
        <dgm:presLayoutVars>
          <dgm:chMax val="0"/>
          <dgm:bulletEnabled val="1"/>
        </dgm:presLayoutVars>
      </dgm:prSet>
      <dgm:spPr/>
    </dgm:pt>
  </dgm:ptLst>
  <dgm:cxnLst>
    <dgm:cxn modelId="{D18D3E19-40FD-7941-B0B6-652B0817DEA9}" srcId="{0566C2C4-9A12-2C47-A662-9FDD3B211124}" destId="{6F0BFC6F-9DAE-9E40-9606-E84AF7AD76F0}" srcOrd="0" destOrd="0" parTransId="{1FF13F29-4BE4-884B-AA41-DEDE448B7F7A}" sibTransId="{524EAD56-E5CF-A040-BF66-032A05E96162}"/>
    <dgm:cxn modelId="{3F28B122-7F10-1841-AA24-34C774AB9D0F}" type="presOf" srcId="{6F0BFC6F-9DAE-9E40-9606-E84AF7AD76F0}" destId="{5E54FC09-720C-C84F-BA01-9E3CFED56B29}" srcOrd="0" destOrd="0" presId="urn:microsoft.com/office/officeart/2005/8/layout/vList2"/>
    <dgm:cxn modelId="{C96D9F2C-1ABF-814C-89C9-43AD4140C813}" srcId="{0566C2C4-9A12-2C47-A662-9FDD3B211124}" destId="{BD522542-74DA-164B-AF5E-2353589E4EFC}" srcOrd="4" destOrd="0" parTransId="{ED10C3C8-C53F-444F-8E2B-A55C722D1E58}" sibTransId="{540620FF-DBEE-4C4D-818F-72A4F4719287}"/>
    <dgm:cxn modelId="{D8E5F242-A88E-3649-9A7A-3D64EE013919}" type="presOf" srcId="{0566C2C4-9A12-2C47-A662-9FDD3B211124}" destId="{F7729EF8-CC54-E74E-861D-48B9DA3787F0}" srcOrd="0" destOrd="0" presId="urn:microsoft.com/office/officeart/2005/8/layout/vList2"/>
    <dgm:cxn modelId="{5F949888-FFC3-DC43-BEBD-D8A63F1D0902}" type="presOf" srcId="{BD522542-74DA-164B-AF5E-2353589E4EFC}" destId="{2EEAEABB-3695-C04C-A772-E05C11D1DF44}" srcOrd="0" destOrd="0" presId="urn:microsoft.com/office/officeart/2005/8/layout/vList2"/>
    <dgm:cxn modelId="{E6E6BCA6-44D0-1847-AB2D-C88D1424CAB9}" srcId="{0566C2C4-9A12-2C47-A662-9FDD3B211124}" destId="{BB37F554-AF5E-3F48-9181-463643234623}" srcOrd="3" destOrd="0" parTransId="{D6943747-8007-C249-B473-FA1E045F6387}" sibTransId="{4EBD545B-9488-7745-A673-A6764AB09318}"/>
    <dgm:cxn modelId="{125356C2-122E-544C-9E3E-D22667E3F9CC}" type="presOf" srcId="{BB37F554-AF5E-3F48-9181-463643234623}" destId="{13CB58DF-C614-1045-8D5D-42C91EAC0811}" srcOrd="0" destOrd="0" presId="urn:microsoft.com/office/officeart/2005/8/layout/vList2"/>
    <dgm:cxn modelId="{613CE0DB-2328-DC48-9D2D-E5F11742D680}" type="presOf" srcId="{376CE159-A768-6B43-B73A-77323B443A9B}" destId="{0A4F160B-3ACC-6B40-8517-1AA0EF8218B9}" srcOrd="0" destOrd="0" presId="urn:microsoft.com/office/officeart/2005/8/layout/vList2"/>
    <dgm:cxn modelId="{6025EDDC-A8AD-9049-AE56-CCD767D908A3}" type="presOf" srcId="{F4806620-239A-144B-B90B-61E9F25ADDED}" destId="{408DA3FC-07A8-3A4C-B275-7E61B1A90E7C}" srcOrd="0" destOrd="0" presId="urn:microsoft.com/office/officeart/2005/8/layout/vList2"/>
    <dgm:cxn modelId="{CF6E43E1-4CAF-4540-90F5-122B1C7F24C0}" srcId="{0566C2C4-9A12-2C47-A662-9FDD3B211124}" destId="{376CE159-A768-6B43-B73A-77323B443A9B}" srcOrd="1" destOrd="0" parTransId="{64E4205F-1CD9-B447-A4DB-36441087CF1D}" sibTransId="{075B42CF-69BF-8345-991B-C5955D56149C}"/>
    <dgm:cxn modelId="{EB97DFFE-D795-204A-AC56-DF0D9504F7B2}" srcId="{0566C2C4-9A12-2C47-A662-9FDD3B211124}" destId="{F4806620-239A-144B-B90B-61E9F25ADDED}" srcOrd="2" destOrd="0" parTransId="{065E3AC5-8D6A-2147-98EF-3E5712CD66B6}" sibTransId="{18DC7F6A-DB99-FD49-9663-C66E2930990D}"/>
    <dgm:cxn modelId="{BB1D0C64-0AE7-D144-8BE4-20FFA1CA30EA}" type="presParOf" srcId="{F7729EF8-CC54-E74E-861D-48B9DA3787F0}" destId="{5E54FC09-720C-C84F-BA01-9E3CFED56B29}" srcOrd="0" destOrd="0" presId="urn:microsoft.com/office/officeart/2005/8/layout/vList2"/>
    <dgm:cxn modelId="{958B34EF-5A26-B641-AA79-E6015401DFF9}" type="presParOf" srcId="{F7729EF8-CC54-E74E-861D-48B9DA3787F0}" destId="{1AC65325-F1A6-0140-9FEE-728290AA7657}" srcOrd="1" destOrd="0" presId="urn:microsoft.com/office/officeart/2005/8/layout/vList2"/>
    <dgm:cxn modelId="{E984215B-3C3C-5946-9EED-91DDA6A6C18F}" type="presParOf" srcId="{F7729EF8-CC54-E74E-861D-48B9DA3787F0}" destId="{0A4F160B-3ACC-6B40-8517-1AA0EF8218B9}" srcOrd="2" destOrd="0" presId="urn:microsoft.com/office/officeart/2005/8/layout/vList2"/>
    <dgm:cxn modelId="{E251DDF8-1ACA-D943-907B-4AB3307C0CA0}" type="presParOf" srcId="{F7729EF8-CC54-E74E-861D-48B9DA3787F0}" destId="{3BDDC2BB-AF06-3F40-8BAE-24E7B0245277}" srcOrd="3" destOrd="0" presId="urn:microsoft.com/office/officeart/2005/8/layout/vList2"/>
    <dgm:cxn modelId="{964041C2-77A6-0D4C-935E-49BF93491807}" type="presParOf" srcId="{F7729EF8-CC54-E74E-861D-48B9DA3787F0}" destId="{408DA3FC-07A8-3A4C-B275-7E61B1A90E7C}" srcOrd="4" destOrd="0" presId="urn:microsoft.com/office/officeart/2005/8/layout/vList2"/>
    <dgm:cxn modelId="{73F076D3-3D90-AB48-AC62-C86F244E993E}" type="presParOf" srcId="{F7729EF8-CC54-E74E-861D-48B9DA3787F0}" destId="{F725495D-0FFC-F843-B4FF-CA6E0C08A3DB}" srcOrd="5" destOrd="0" presId="urn:microsoft.com/office/officeart/2005/8/layout/vList2"/>
    <dgm:cxn modelId="{B2C4896B-0A42-8C40-9AD2-6B1D020C7AD1}" type="presParOf" srcId="{F7729EF8-CC54-E74E-861D-48B9DA3787F0}" destId="{13CB58DF-C614-1045-8D5D-42C91EAC0811}" srcOrd="6" destOrd="0" presId="urn:microsoft.com/office/officeart/2005/8/layout/vList2"/>
    <dgm:cxn modelId="{DFB4F093-F54A-714C-B7F8-A9D7B99D6EF7}" type="presParOf" srcId="{F7729EF8-CC54-E74E-861D-48B9DA3787F0}" destId="{677AB3E3-3878-AA4F-91C6-045FCD9D3B9B}" srcOrd="7" destOrd="0" presId="urn:microsoft.com/office/officeart/2005/8/layout/vList2"/>
    <dgm:cxn modelId="{0A9B32B8-A8F4-2A46-9242-7B6A5C7CC3F3}" type="presParOf" srcId="{F7729EF8-CC54-E74E-861D-48B9DA3787F0}" destId="{2EEAEABB-3695-C04C-A772-E05C11D1DF44}"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0CD339-0B3B-894F-93D8-FCF610E062B9}">
      <dsp:nvSpPr>
        <dsp:cNvPr id="0" name=""/>
        <dsp:cNvSpPr/>
      </dsp:nvSpPr>
      <dsp:spPr>
        <a:xfrm>
          <a:off x="0" y="290742"/>
          <a:ext cx="9067800" cy="1216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0" i="1" kern="1200" baseline="0" dirty="0">
              <a:solidFill>
                <a:schemeClr val="tx1"/>
              </a:solidFill>
            </a:rPr>
            <a:t>“How can lifestyle-based cervical cancer risk prediction models developed from individual-level datasets be used to inform disease burden patterns in West African populations?”</a:t>
          </a:r>
          <a:endParaRPr lang="en-GB" sz="1600" b="0" i="1" kern="1200" dirty="0">
            <a:solidFill>
              <a:schemeClr val="tx1"/>
            </a:solidFill>
          </a:endParaRPr>
        </a:p>
      </dsp:txBody>
      <dsp:txXfrm>
        <a:off x="59399" y="350141"/>
        <a:ext cx="8949002" cy="10980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6E8D42-0848-1E4D-A3A4-E4C2D375E843}">
      <dsp:nvSpPr>
        <dsp:cNvPr id="0" name=""/>
        <dsp:cNvSpPr/>
      </dsp:nvSpPr>
      <dsp:spPr>
        <a:xfrm>
          <a:off x="0" y="56352"/>
          <a:ext cx="9067800" cy="93483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baseline="0" dirty="0">
              <a:solidFill>
                <a:schemeClr val="tx1"/>
              </a:solidFill>
            </a:rPr>
            <a:t>Previous studies have shown that machine learning can be used to predict cervical cancer risk from </a:t>
          </a:r>
          <a:r>
            <a:rPr lang="en-US" sz="1700" b="0" i="0" kern="1200" baseline="0" dirty="0" err="1">
              <a:solidFill>
                <a:schemeClr val="tx1"/>
              </a:solidFill>
            </a:rPr>
            <a:t>behavioural</a:t>
          </a:r>
          <a:r>
            <a:rPr lang="en-US" sz="1700" b="0" i="0" kern="1200" baseline="0" dirty="0">
              <a:solidFill>
                <a:schemeClr val="tx1"/>
              </a:solidFill>
            </a:rPr>
            <a:t> and clinical variables.</a:t>
          </a:r>
          <a:br>
            <a:rPr lang="en-US" sz="1700" b="0" i="0" kern="1200" baseline="0" dirty="0">
              <a:solidFill>
                <a:schemeClr val="tx1"/>
              </a:solidFill>
            </a:rPr>
          </a:br>
          <a:r>
            <a:rPr lang="en-US" sz="1700" b="0" i="0" kern="1200" baseline="0" dirty="0">
              <a:solidFill>
                <a:schemeClr val="tx1"/>
              </a:solidFill>
            </a:rPr>
            <a:t>However, most of these studies focus only on </a:t>
          </a:r>
          <a:r>
            <a:rPr lang="en-US" sz="1700" b="1" i="0" kern="1200" baseline="0" dirty="0">
              <a:solidFill>
                <a:schemeClr val="tx1"/>
              </a:solidFill>
            </a:rPr>
            <a:t>model accuracy</a:t>
          </a:r>
          <a:r>
            <a:rPr lang="en-US" sz="1700" b="0" i="0" kern="1200" baseline="0" dirty="0">
              <a:solidFill>
                <a:schemeClr val="tx1"/>
              </a:solidFill>
            </a:rPr>
            <a:t> using a single dataset.</a:t>
          </a:r>
          <a:endParaRPr lang="en-GB" sz="1700" kern="1200" dirty="0">
            <a:solidFill>
              <a:schemeClr val="tx1"/>
            </a:solidFill>
          </a:endParaRPr>
        </a:p>
      </dsp:txBody>
      <dsp:txXfrm>
        <a:off x="45635" y="101987"/>
        <a:ext cx="8976530" cy="843560"/>
      </dsp:txXfrm>
    </dsp:sp>
    <dsp:sp modelId="{B6F1DBF3-FFA1-B042-8CCB-3B49B7E2AFB6}">
      <dsp:nvSpPr>
        <dsp:cNvPr id="0" name=""/>
        <dsp:cNvSpPr/>
      </dsp:nvSpPr>
      <dsp:spPr>
        <a:xfrm>
          <a:off x="0" y="1040142"/>
          <a:ext cx="9067800" cy="93483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baseline="0" dirty="0">
              <a:solidFill>
                <a:schemeClr val="tx1"/>
              </a:solidFill>
            </a:rPr>
            <a:t>This project goes further by also </a:t>
          </a:r>
          <a:r>
            <a:rPr lang="en-US" sz="1700" b="0" i="0" kern="1200" baseline="0" dirty="0" err="1">
              <a:solidFill>
                <a:schemeClr val="tx1"/>
              </a:solidFill>
            </a:rPr>
            <a:t>analysing</a:t>
          </a:r>
          <a:r>
            <a:rPr lang="en-US" sz="1700" b="0" i="0" kern="1200" baseline="0" dirty="0">
              <a:solidFill>
                <a:schemeClr val="tx1"/>
              </a:solidFill>
            </a:rPr>
            <a:t> </a:t>
          </a:r>
          <a:r>
            <a:rPr lang="en-US" sz="1700" b="1" i="0" kern="1200" baseline="0" dirty="0">
              <a:solidFill>
                <a:schemeClr val="tx1"/>
              </a:solidFill>
            </a:rPr>
            <a:t>incidence and prevalence trends in West Africa</a:t>
          </a:r>
          <a:r>
            <a:rPr lang="en-US" sz="1700" b="0" i="0" kern="1200" baseline="0" dirty="0">
              <a:solidFill>
                <a:schemeClr val="tx1"/>
              </a:solidFill>
            </a:rPr>
            <a:t>, linking individual risk prediction with population-level patterns.</a:t>
          </a:r>
          <a:endParaRPr lang="en-GB" sz="1700" kern="1200" dirty="0">
            <a:solidFill>
              <a:schemeClr val="tx1"/>
            </a:solidFill>
          </a:endParaRPr>
        </a:p>
      </dsp:txBody>
      <dsp:txXfrm>
        <a:off x="45635" y="1085777"/>
        <a:ext cx="8976530" cy="8435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54FC09-720C-C84F-BA01-9E3CFED56B29}">
      <dsp:nvSpPr>
        <dsp:cNvPr id="0" name=""/>
        <dsp:cNvSpPr/>
      </dsp:nvSpPr>
      <dsp:spPr>
        <a:xfrm>
          <a:off x="0" y="2270"/>
          <a:ext cx="8354786" cy="71604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t>The UCI cervical cancer dataset is anonymised, reducing the risk of exposing personal or sensitive information.</a:t>
          </a:r>
        </a:p>
      </dsp:txBody>
      <dsp:txXfrm>
        <a:off x="34954" y="37224"/>
        <a:ext cx="8284878" cy="646132"/>
      </dsp:txXfrm>
    </dsp:sp>
    <dsp:sp modelId="{0A4F160B-3ACC-6B40-8517-1AA0EF8218B9}">
      <dsp:nvSpPr>
        <dsp:cNvPr id="0" name=""/>
        <dsp:cNvSpPr/>
      </dsp:nvSpPr>
      <dsp:spPr>
        <a:xfrm>
          <a:off x="0" y="770150"/>
          <a:ext cx="8354786" cy="71604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The GBD IHME dataset contains aggregated data, meaning no individual-level identifiers are included.</a:t>
          </a:r>
        </a:p>
      </dsp:txBody>
      <dsp:txXfrm>
        <a:off x="34954" y="805104"/>
        <a:ext cx="8284878" cy="646132"/>
      </dsp:txXfrm>
    </dsp:sp>
    <dsp:sp modelId="{408DA3FC-07A8-3A4C-B275-7E61B1A90E7C}">
      <dsp:nvSpPr>
        <dsp:cNvPr id="0" name=""/>
        <dsp:cNvSpPr/>
      </dsp:nvSpPr>
      <dsp:spPr>
        <a:xfrm>
          <a:off x="0" y="1538030"/>
          <a:ext cx="8354786" cy="71604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The dataset may introduce bias, as it may not fully represent West African populations, affecting model generalisation.</a:t>
          </a:r>
        </a:p>
      </dsp:txBody>
      <dsp:txXfrm>
        <a:off x="34954" y="1572984"/>
        <a:ext cx="8284878" cy="646132"/>
      </dsp:txXfrm>
    </dsp:sp>
    <dsp:sp modelId="{13CB58DF-C614-1045-8D5D-42C91EAC0811}">
      <dsp:nvSpPr>
        <dsp:cNvPr id="0" name=""/>
        <dsp:cNvSpPr/>
      </dsp:nvSpPr>
      <dsp:spPr>
        <a:xfrm>
          <a:off x="0" y="2305910"/>
          <a:ext cx="8354786" cy="71604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Machine learning predictions should be used as supportive tools and not as a replacement for clinical decision-making.</a:t>
          </a:r>
        </a:p>
      </dsp:txBody>
      <dsp:txXfrm>
        <a:off x="34954" y="2340864"/>
        <a:ext cx="8284878" cy="646132"/>
      </dsp:txXfrm>
    </dsp:sp>
    <dsp:sp modelId="{2EEAEABB-3695-C04C-A772-E05C11D1DF44}">
      <dsp:nvSpPr>
        <dsp:cNvPr id="0" name=""/>
        <dsp:cNvSpPr/>
      </dsp:nvSpPr>
      <dsp:spPr>
        <a:xfrm>
          <a:off x="0" y="3073790"/>
          <a:ext cx="8354786" cy="71604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Transparency in data processing and model development is essential to ensure reliability and reproducibility of results.</a:t>
          </a:r>
        </a:p>
      </dsp:txBody>
      <dsp:txXfrm>
        <a:off x="34954" y="3108744"/>
        <a:ext cx="8284878" cy="64613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3/23/2026</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3/23/2026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2182522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2090324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1025326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3105683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40404389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8</a:t>
            </a:fld>
            <a:endParaRPr lang="en-US" dirty="0"/>
          </a:p>
        </p:txBody>
      </p:sp>
    </p:spTree>
    <p:extLst>
      <p:ext uri="{BB962C8B-B14F-4D97-AF65-F5344CB8AC3E}">
        <p14:creationId xmlns:p14="http://schemas.microsoft.com/office/powerpoint/2010/main" val="236659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9</a:t>
            </a:fld>
            <a:endParaRPr lang="en-US" dirty="0"/>
          </a:p>
        </p:txBody>
      </p:sp>
    </p:spTree>
    <p:extLst>
      <p:ext uri="{BB962C8B-B14F-4D97-AF65-F5344CB8AC3E}">
        <p14:creationId xmlns:p14="http://schemas.microsoft.com/office/powerpoint/2010/main" val="20661440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10</a:t>
            </a:fld>
            <a:endParaRPr lang="en-US" dirty="0"/>
          </a:p>
        </p:txBody>
      </p:sp>
    </p:spTree>
    <p:extLst>
      <p:ext uri="{BB962C8B-B14F-4D97-AF65-F5344CB8AC3E}">
        <p14:creationId xmlns:p14="http://schemas.microsoft.com/office/powerpoint/2010/main" val="840986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E74AB-9FE8-971C-50D0-BA7EDE5BD6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34B6A3-800A-4876-9804-B6099759FA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5BA60D-4E92-C913-CBB8-A4FEB4BB82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586F75-B174-F139-94DE-D48F0EA14D3E}"/>
              </a:ext>
            </a:extLst>
          </p:cNvPr>
          <p:cNvSpPr>
            <a:spLocks noGrp="1"/>
          </p:cNvSpPr>
          <p:nvPr>
            <p:ph type="sldNum" sz="quarter" idx="5"/>
          </p:nvPr>
        </p:nvSpPr>
        <p:spPr/>
        <p:txBody>
          <a:bodyPr/>
          <a:lstStyle/>
          <a:p>
            <a:fld id="{22289C57-55D7-40A4-A101-E74FAC7A092B}" type="slidenum">
              <a:rPr lang="en-US" smtClean="0"/>
              <a:t>11</a:t>
            </a:fld>
            <a:endParaRPr lang="en-US" dirty="0"/>
          </a:p>
        </p:txBody>
      </p:sp>
    </p:spTree>
    <p:extLst>
      <p:ext uri="{BB962C8B-B14F-4D97-AF65-F5344CB8AC3E}">
        <p14:creationId xmlns:p14="http://schemas.microsoft.com/office/powerpoint/2010/main" val="2881126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12</a:t>
            </a:fld>
            <a:endParaRPr lang="en-US" dirty="0"/>
          </a:p>
        </p:txBody>
      </p:sp>
    </p:spTree>
    <p:extLst>
      <p:ext uri="{BB962C8B-B14F-4D97-AF65-F5344CB8AC3E}">
        <p14:creationId xmlns:p14="http://schemas.microsoft.com/office/powerpoint/2010/main" val="702683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13</a:t>
            </a:fld>
            <a:endParaRPr lang="en-US" dirty="0"/>
          </a:p>
        </p:txBody>
      </p:sp>
    </p:spTree>
    <p:extLst>
      <p:ext uri="{BB962C8B-B14F-4D97-AF65-F5344CB8AC3E}">
        <p14:creationId xmlns:p14="http://schemas.microsoft.com/office/powerpoint/2010/main" val="537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14</a:t>
            </a:fld>
            <a:endParaRPr lang="en-US" dirty="0"/>
          </a:p>
        </p:txBody>
      </p:sp>
    </p:spTree>
    <p:extLst>
      <p:ext uri="{BB962C8B-B14F-4D97-AF65-F5344CB8AC3E}">
        <p14:creationId xmlns:p14="http://schemas.microsoft.com/office/powerpoint/2010/main" val="575465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81E08-0C53-2535-00D4-AC341DBF61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A7CB0-9F53-5AD0-FD3F-6B4E1588DC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5D242D-82F7-0193-42F1-053D7909E0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84669A-152B-1F39-8BEA-0B5563020F53}"/>
              </a:ext>
            </a:extLst>
          </p:cNvPr>
          <p:cNvSpPr>
            <a:spLocks noGrp="1"/>
          </p:cNvSpPr>
          <p:nvPr>
            <p:ph type="sldNum" sz="quarter" idx="5"/>
          </p:nvPr>
        </p:nvSpPr>
        <p:spPr/>
        <p:txBody>
          <a:bodyPr/>
          <a:lstStyle/>
          <a:p>
            <a:fld id="{22289C57-55D7-40A4-A101-E74FAC7A092B}" type="slidenum">
              <a:rPr lang="en-US" smtClean="0"/>
              <a:t>15</a:t>
            </a:fld>
            <a:endParaRPr lang="en-US" dirty="0"/>
          </a:p>
        </p:txBody>
      </p:sp>
    </p:spTree>
    <p:extLst>
      <p:ext uri="{BB962C8B-B14F-4D97-AF65-F5344CB8AC3E}">
        <p14:creationId xmlns:p14="http://schemas.microsoft.com/office/powerpoint/2010/main" val="13283596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95509-804D-285D-81D2-2B6460B20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AEEED-2E69-CE3B-3E3F-9FFB79DFE2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4D0B5-19F6-61EB-09B7-0C9F7991A3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C9A96B-E06B-C917-0D77-98F7B92F0F6B}"/>
              </a:ext>
            </a:extLst>
          </p:cNvPr>
          <p:cNvSpPr>
            <a:spLocks noGrp="1"/>
          </p:cNvSpPr>
          <p:nvPr>
            <p:ph type="sldNum" sz="quarter" idx="5"/>
          </p:nvPr>
        </p:nvSpPr>
        <p:spPr/>
        <p:txBody>
          <a:bodyPr/>
          <a:lstStyle/>
          <a:p>
            <a:fld id="{22289C57-55D7-40A4-A101-E74FAC7A092B}" type="slidenum">
              <a:rPr lang="en-US" smtClean="0"/>
              <a:t>16</a:t>
            </a:fld>
            <a:endParaRPr lang="en-US" dirty="0"/>
          </a:p>
        </p:txBody>
      </p:sp>
    </p:spTree>
    <p:extLst>
      <p:ext uri="{BB962C8B-B14F-4D97-AF65-F5344CB8AC3E}">
        <p14:creationId xmlns:p14="http://schemas.microsoft.com/office/powerpoint/2010/main" val="567070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07796-B5F6-CDFB-8BBC-4A4261CDB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AB5AF0-657E-C95B-5C49-20A4E9C1AA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CC2F1E-9804-15A7-B2DD-DF672FBC02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1A95F2-509F-9F2B-EB93-9EEE29818F71}"/>
              </a:ext>
            </a:extLst>
          </p:cNvPr>
          <p:cNvSpPr>
            <a:spLocks noGrp="1"/>
          </p:cNvSpPr>
          <p:nvPr>
            <p:ph type="sldNum" sz="quarter" idx="5"/>
          </p:nvPr>
        </p:nvSpPr>
        <p:spPr/>
        <p:txBody>
          <a:bodyPr/>
          <a:lstStyle/>
          <a:p>
            <a:fld id="{22289C57-55D7-40A4-A101-E74FAC7A092B}" type="slidenum">
              <a:rPr lang="en-US" smtClean="0"/>
              <a:t>17</a:t>
            </a:fld>
            <a:endParaRPr lang="en-US" dirty="0"/>
          </a:p>
        </p:txBody>
      </p:sp>
    </p:spTree>
    <p:extLst>
      <p:ext uri="{BB962C8B-B14F-4D97-AF65-F5344CB8AC3E}">
        <p14:creationId xmlns:p14="http://schemas.microsoft.com/office/powerpoint/2010/main" val="40722791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6C814-DA94-B93F-8BC8-F0841215E0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F7695-E5A6-D4CA-9A57-F5B8C10CBD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EB2525-B12B-6A47-E3BB-93296E45EE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517743-05DF-69C5-4D73-C99F8ED38270}"/>
              </a:ext>
            </a:extLst>
          </p:cNvPr>
          <p:cNvSpPr>
            <a:spLocks noGrp="1"/>
          </p:cNvSpPr>
          <p:nvPr>
            <p:ph type="sldNum" sz="quarter" idx="5"/>
          </p:nvPr>
        </p:nvSpPr>
        <p:spPr/>
        <p:txBody>
          <a:bodyPr/>
          <a:lstStyle/>
          <a:p>
            <a:fld id="{22289C57-55D7-40A4-A101-E74FAC7A092B}" type="slidenum">
              <a:rPr lang="en-US" smtClean="0"/>
              <a:t>18</a:t>
            </a:fld>
            <a:endParaRPr lang="en-US" dirty="0"/>
          </a:p>
        </p:txBody>
      </p:sp>
    </p:spTree>
    <p:extLst>
      <p:ext uri="{BB962C8B-B14F-4D97-AF65-F5344CB8AC3E}">
        <p14:creationId xmlns:p14="http://schemas.microsoft.com/office/powerpoint/2010/main" val="22656133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GB"/>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GB"/>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GB"/>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GB"/>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archive.ics.uci.edu/ml/datasets/Cervical+Cancer+(Risk+Factors)" TargetMode="External"/><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hyperlink" Target="https://ghdx.healthdata.org/gbd-results-tool" TargetMode="Externa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2937804" y="1349607"/>
            <a:ext cx="6741886" cy="2837542"/>
          </a:xfrm>
        </p:spPr>
        <p:style>
          <a:lnRef idx="2">
            <a:schemeClr val="dk1"/>
          </a:lnRef>
          <a:fillRef idx="1">
            <a:schemeClr val="lt1"/>
          </a:fillRef>
          <a:effectRef idx="0">
            <a:schemeClr val="dk1"/>
          </a:effectRef>
          <a:fontRef idx="minor">
            <a:schemeClr val="dk1"/>
          </a:fontRef>
        </p:style>
        <p:txBody>
          <a:bodyPr anchor="ctr"/>
          <a:lstStyle/>
          <a:p>
            <a:pPr algn="ctr"/>
            <a:r>
              <a:rPr lang="en-US" sz="3200" b="1" dirty="0">
                <a:solidFill>
                  <a:schemeClr val="tx1"/>
                </a:solidFill>
                <a:latin typeface="+mn-lt"/>
                <a:ea typeface="Georgia" pitchFamily="34" charset="-122"/>
                <a:cs typeface="Georgia" pitchFamily="34" charset="-120"/>
              </a:rPr>
              <a:t>Lifestyle-Based Cervical Cancer</a:t>
            </a:r>
            <a:br>
              <a:rPr lang="en-US" sz="3200" dirty="0">
                <a:solidFill>
                  <a:schemeClr val="tx1"/>
                </a:solidFill>
                <a:latin typeface="+mn-lt"/>
              </a:rPr>
            </a:br>
            <a:r>
              <a:rPr lang="en-US" sz="3200" b="1" dirty="0">
                <a:solidFill>
                  <a:schemeClr val="tx1"/>
                </a:solidFill>
                <a:latin typeface="+mn-lt"/>
                <a:ea typeface="Georgia" pitchFamily="34" charset="-122"/>
                <a:cs typeface="Georgia" pitchFamily="34" charset="-120"/>
              </a:rPr>
              <a:t>Risk Prediction and</a:t>
            </a:r>
            <a:br>
              <a:rPr lang="en-US" sz="3200" dirty="0">
                <a:solidFill>
                  <a:schemeClr val="tx1"/>
                </a:solidFill>
                <a:latin typeface="+mn-lt"/>
              </a:rPr>
            </a:br>
            <a:r>
              <a:rPr lang="en-US" sz="3200" b="1" dirty="0">
                <a:solidFill>
                  <a:schemeClr val="tx1"/>
                </a:solidFill>
                <a:latin typeface="+mn-lt"/>
                <a:ea typeface="Georgia" pitchFamily="34" charset="-122"/>
                <a:cs typeface="Georgia" pitchFamily="34" charset="-120"/>
              </a:rPr>
              <a:t>Population Burden Analysis</a:t>
            </a:r>
            <a:br>
              <a:rPr lang="en-US" sz="3200" dirty="0">
                <a:solidFill>
                  <a:schemeClr val="tx1"/>
                </a:solidFill>
                <a:latin typeface="+mn-lt"/>
              </a:rPr>
            </a:br>
            <a:r>
              <a:rPr lang="en-US" sz="3200" b="1" dirty="0">
                <a:solidFill>
                  <a:schemeClr val="tx1"/>
                </a:solidFill>
                <a:latin typeface="+mn-lt"/>
                <a:ea typeface="Georgia" pitchFamily="34" charset="-122"/>
                <a:cs typeface="Georgia" pitchFamily="34" charset="-120"/>
              </a:rPr>
              <a:t>in West Africa</a:t>
            </a:r>
            <a:endParaRPr lang="en-US" sz="3200" dirty="0">
              <a:solidFill>
                <a:schemeClr val="tx1"/>
              </a:solidFill>
              <a:latin typeface="+mn-lt"/>
            </a:endParaRPr>
          </a:p>
        </p:txBody>
      </p:sp>
      <p:sp>
        <p:nvSpPr>
          <p:cNvPr id="4" name="TextBox 3">
            <a:extLst>
              <a:ext uri="{FF2B5EF4-FFF2-40B4-BE49-F238E27FC236}">
                <a16:creationId xmlns:a16="http://schemas.microsoft.com/office/drawing/2014/main" id="{9B0B91BB-BD03-533B-2CAF-EDFCDDA0DC50}"/>
              </a:ext>
            </a:extLst>
          </p:cNvPr>
          <p:cNvSpPr txBox="1"/>
          <p:nvPr/>
        </p:nvSpPr>
        <p:spPr>
          <a:xfrm>
            <a:off x="3259575" y="4564545"/>
            <a:ext cx="6098344" cy="1887696"/>
          </a:xfrm>
          <a:prstGeom prst="rect">
            <a:avLst/>
          </a:prstGeom>
          <a:noFill/>
        </p:spPr>
        <p:txBody>
          <a:bodyPr wrap="square">
            <a:spAutoFit/>
          </a:bodyPr>
          <a:lstStyle/>
          <a:p>
            <a:pPr algn="ctr" rtl="0">
              <a:buNone/>
            </a:pPr>
            <a:r>
              <a:rPr lang="en-US" sz="2000" b="0" i="0" u="none" strike="noStrike" dirty="0">
                <a:solidFill>
                  <a:srgbClr val="000000"/>
                </a:solidFill>
                <a:effectLst/>
              </a:rPr>
              <a:t>OPEOLUWA G. OMONIYI</a:t>
            </a:r>
            <a:endParaRPr lang="en-US" sz="2000" b="0" dirty="0">
              <a:effectLst/>
            </a:endParaRPr>
          </a:p>
          <a:p>
            <a:pPr algn="ctr" rtl="0">
              <a:spcBef>
                <a:spcPts val="1000"/>
              </a:spcBef>
              <a:buNone/>
            </a:pPr>
            <a:r>
              <a:rPr lang="en-US" sz="2000" b="0" i="0" u="none" strike="noStrike" dirty="0">
                <a:solidFill>
                  <a:srgbClr val="000000"/>
                </a:solidFill>
                <a:effectLst/>
              </a:rPr>
              <a:t>M.Sc. Data Science Student</a:t>
            </a:r>
            <a:endParaRPr lang="en-US" sz="2000" b="0" dirty="0">
              <a:effectLst/>
            </a:endParaRPr>
          </a:p>
          <a:p>
            <a:pPr algn="ctr" rtl="0">
              <a:spcBef>
                <a:spcPts val="1000"/>
              </a:spcBef>
              <a:buNone/>
            </a:pPr>
            <a:r>
              <a:rPr lang="en-US" sz="2000" b="0" i="0" u="none" strike="noStrike" dirty="0">
                <a:solidFill>
                  <a:srgbClr val="000000"/>
                </a:solidFill>
                <a:effectLst/>
              </a:rPr>
              <a:t>University of Hertfordshire</a:t>
            </a:r>
            <a:endParaRPr lang="en-US" sz="2000" b="0" dirty="0">
              <a:effectLst/>
            </a:endParaRPr>
          </a:p>
          <a:p>
            <a:pPr>
              <a:buNone/>
            </a:pPr>
            <a:br>
              <a:rPr lang="en-US" sz="2000" dirty="0"/>
            </a:br>
            <a:endParaRPr lang="en-US" sz="2000" dirty="0"/>
          </a:p>
        </p:txBody>
      </p:sp>
      <p:sp>
        <p:nvSpPr>
          <p:cNvPr id="8" name="Slide Number Placeholder 5">
            <a:extLst>
              <a:ext uri="{FF2B5EF4-FFF2-40B4-BE49-F238E27FC236}">
                <a16:creationId xmlns:a16="http://schemas.microsoft.com/office/drawing/2014/main" id="{ECE635A2-70B8-3EAB-6A18-952B02EBAA1E}"/>
              </a:ext>
            </a:extLst>
          </p:cNvPr>
          <p:cNvSpPr>
            <a:spLocks noGrp="1"/>
          </p:cNvSpPr>
          <p:nvPr/>
        </p:nvSpPr>
        <p:spPr>
          <a:xfrm>
            <a:off x="10638458" y="6269678"/>
            <a:ext cx="987552"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1</a:t>
            </a: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B61E6890-90C9-5CB1-61D0-12C88144EB02}"/>
              </a:ext>
            </a:extLst>
          </p:cNvPr>
          <p:cNvSpPr>
            <a:spLocks noChangeArrowheads="1"/>
          </p:cNvSpPr>
          <p:nvPr/>
        </p:nvSpPr>
        <p:spPr bwMode="auto">
          <a:xfrm>
            <a:off x="1444171" y="1401725"/>
            <a:ext cx="9064171" cy="4656594"/>
          </a:xfrm>
          <a:prstGeom prst="roundRect">
            <a:avLst/>
          </a:prstGeom>
          <a:solidFill>
            <a:schemeClr val="accent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en-US" altLang="en-US" sz="2000" b="0" i="0" u="none" strike="noStrike" cap="none" normalizeH="0" baseline="0" dirty="0">
                <a:ln>
                  <a:noFill/>
                </a:ln>
                <a:solidFill>
                  <a:srgbClr val="000000"/>
                </a:solidFill>
                <a:effectLst/>
                <a:latin typeface="+mn-lt"/>
              </a:rPr>
              <a:t>This project applies data science methods to examine </a:t>
            </a:r>
            <a:r>
              <a:rPr lang="en-US" altLang="en-US" sz="2000" b="1" dirty="0">
                <a:solidFill>
                  <a:srgbClr val="000000"/>
                </a:solidFill>
                <a:latin typeface="+mn-lt"/>
              </a:rPr>
              <a:t>C</a:t>
            </a:r>
            <a:r>
              <a:rPr kumimoji="0" lang="en-US" altLang="en-US" sz="2000" b="1" i="0" u="none" strike="noStrike" cap="none" normalizeH="0" baseline="0" dirty="0">
                <a:ln>
                  <a:noFill/>
                </a:ln>
                <a:solidFill>
                  <a:srgbClr val="000000"/>
                </a:solidFill>
                <a:effectLst/>
                <a:latin typeface="+mn-lt"/>
              </a:rPr>
              <a:t>ervical </a:t>
            </a:r>
            <a:r>
              <a:rPr lang="en-US" altLang="en-US" sz="2000" b="1" dirty="0">
                <a:solidFill>
                  <a:srgbClr val="000000"/>
                </a:solidFill>
                <a:latin typeface="+mn-lt"/>
              </a:rPr>
              <a:t>C</a:t>
            </a:r>
            <a:r>
              <a:rPr kumimoji="0" lang="en-US" altLang="en-US" sz="2000" b="1" i="0" u="none" strike="noStrike" cap="none" normalizeH="0" baseline="0" dirty="0">
                <a:ln>
                  <a:noFill/>
                </a:ln>
                <a:solidFill>
                  <a:srgbClr val="000000"/>
                </a:solidFill>
                <a:effectLst/>
                <a:latin typeface="+mn-lt"/>
              </a:rPr>
              <a:t>ancer </a:t>
            </a:r>
            <a:r>
              <a:rPr kumimoji="0" lang="en-US" altLang="en-US" sz="2000" b="0" i="0" u="none" strike="noStrike" cap="none" normalizeH="0" baseline="0" dirty="0">
                <a:ln>
                  <a:noFill/>
                </a:ln>
                <a:solidFill>
                  <a:srgbClr val="000000"/>
                </a:solidFill>
                <a:effectLst/>
                <a:latin typeface="+mn-lt"/>
              </a:rPr>
              <a:t>from two perspectives: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mn-lt"/>
              </a:rPr>
              <a:t>The first is </a:t>
            </a:r>
            <a:r>
              <a:rPr lang="en-US" altLang="en-US" sz="2000" b="1" dirty="0">
                <a:solidFill>
                  <a:srgbClr val="000000"/>
                </a:solidFill>
                <a:latin typeface="+mn-lt"/>
              </a:rPr>
              <a:t>I</a:t>
            </a:r>
            <a:r>
              <a:rPr kumimoji="0" lang="en-US" altLang="en-US" sz="2000" b="1" i="0" u="none" strike="noStrike" cap="none" normalizeH="0" baseline="0" dirty="0">
                <a:ln>
                  <a:noFill/>
                </a:ln>
                <a:solidFill>
                  <a:srgbClr val="000000"/>
                </a:solidFill>
                <a:effectLst/>
                <a:latin typeface="+mn-lt"/>
              </a:rPr>
              <a:t>ndividual-level risk prediction</a:t>
            </a:r>
            <a:r>
              <a:rPr kumimoji="0" lang="en-US" altLang="en-US" sz="2000" b="0" i="0" u="none" strike="noStrike" cap="none" normalizeH="0" baseline="0" dirty="0">
                <a:ln>
                  <a:noFill/>
                </a:ln>
                <a:solidFill>
                  <a:srgbClr val="000000"/>
                </a:solidFill>
                <a:effectLst/>
                <a:latin typeface="+mn-lt"/>
              </a:rPr>
              <a:t> using machine learning models trained on </a:t>
            </a:r>
            <a:r>
              <a:rPr kumimoji="0" lang="en-US" altLang="en-US" sz="2000" b="0" i="0" u="none" strike="noStrike" cap="none" normalizeH="0" baseline="0" dirty="0" err="1">
                <a:ln>
                  <a:noFill/>
                </a:ln>
                <a:solidFill>
                  <a:srgbClr val="000000"/>
                </a:solidFill>
                <a:effectLst/>
                <a:latin typeface="+mn-lt"/>
              </a:rPr>
              <a:t>behavioural</a:t>
            </a:r>
            <a:r>
              <a:rPr kumimoji="0" lang="en-US" altLang="en-US" sz="2000" b="0" i="0" u="none" strike="noStrike" cap="none" normalizeH="0" baseline="0" dirty="0">
                <a:ln>
                  <a:noFill/>
                </a:ln>
                <a:solidFill>
                  <a:srgbClr val="000000"/>
                </a:solidFill>
                <a:effectLst/>
                <a:latin typeface="+mn-lt"/>
              </a:rPr>
              <a:t> and clinical variables.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mn-lt"/>
              </a:rPr>
              <a:t>The second is </a:t>
            </a:r>
            <a:r>
              <a:rPr kumimoji="0" lang="en-US" altLang="en-US" sz="2000" b="1" i="0" u="none" strike="noStrike" cap="none" normalizeH="0" baseline="0" dirty="0">
                <a:ln>
                  <a:noFill/>
                </a:ln>
                <a:solidFill>
                  <a:srgbClr val="000000"/>
                </a:solidFill>
                <a:effectLst/>
                <a:latin typeface="+mn-lt"/>
              </a:rPr>
              <a:t>population-level analysis</a:t>
            </a:r>
            <a:r>
              <a:rPr kumimoji="0" lang="en-US" altLang="en-US" sz="2000" b="0" i="0" u="none" strike="noStrike" cap="none" normalizeH="0" baseline="0" dirty="0">
                <a:ln>
                  <a:noFill/>
                </a:ln>
                <a:solidFill>
                  <a:srgbClr val="000000"/>
                </a:solidFill>
                <a:effectLst/>
                <a:latin typeface="+mn-lt"/>
              </a:rPr>
              <a:t> using cervical cancer incidence and prevalence data from West African countries.</a:t>
            </a:r>
          </a:p>
          <a:p>
            <a:pPr marR="0" lvl="0" algn="l" defTabSz="914400" rtl="0" eaLnBrk="0" fontAlgn="base" latinLnBrk="0" hangingPunct="0">
              <a:lnSpc>
                <a:spcPct val="15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mn-lt"/>
            </a:endParaRP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en-US" altLang="en-US" sz="2000" b="0" i="0" u="none" strike="noStrike" cap="none" normalizeH="0" baseline="0" dirty="0">
                <a:ln>
                  <a:noFill/>
                </a:ln>
                <a:solidFill>
                  <a:srgbClr val="000000"/>
                </a:solidFill>
                <a:effectLst/>
                <a:latin typeface="+mn-lt"/>
              </a:rPr>
              <a:t>The purpose of combining these two approaches is to provide both a predictive and a regional understanding of cervical cancer patterns.</a:t>
            </a:r>
            <a:endParaRPr kumimoji="0" lang="en-US" altLang="en-US" sz="2000" b="0" i="0" u="none" strike="noStrike" cap="none" normalizeH="0" baseline="0" dirty="0">
              <a:ln>
                <a:noFill/>
              </a:ln>
              <a:solidFill>
                <a:schemeClr val="tx1"/>
              </a:solidFill>
              <a:effectLst/>
              <a:latin typeface="+mn-lt"/>
            </a:endParaRPr>
          </a:p>
        </p:txBody>
      </p:sp>
      <p:sp>
        <p:nvSpPr>
          <p:cNvPr id="6" name="Title 1">
            <a:extLst>
              <a:ext uri="{FF2B5EF4-FFF2-40B4-BE49-F238E27FC236}">
                <a16:creationId xmlns:a16="http://schemas.microsoft.com/office/drawing/2014/main" id="{BF0CDD75-C891-8BFC-42A9-65E747093E30}"/>
              </a:ext>
            </a:extLst>
          </p:cNvPr>
          <p:cNvSpPr>
            <a:spLocks noGrp="1"/>
          </p:cNvSpPr>
          <p:nvPr>
            <p:ph type="ctrTitle"/>
          </p:nvPr>
        </p:nvSpPr>
        <p:spPr>
          <a:xfrm>
            <a:off x="3886471" y="948453"/>
            <a:ext cx="4179570" cy="634156"/>
          </a:xfrm>
          <a:prstGeom prst="round2SameRect">
            <a:avLst/>
          </a:prstGeom>
          <a:solidFill>
            <a:schemeClr val="accent1"/>
          </a:solidFill>
        </p:spPr>
        <p:style>
          <a:lnRef idx="2">
            <a:schemeClr val="dk1"/>
          </a:lnRef>
          <a:fillRef idx="1">
            <a:schemeClr val="lt1"/>
          </a:fillRef>
          <a:effectRef idx="0">
            <a:schemeClr val="dk1"/>
          </a:effectRef>
          <a:fontRef idx="minor">
            <a:schemeClr val="dk1"/>
          </a:fontRef>
        </p:style>
        <p:txBody>
          <a:bodyPr/>
          <a:lstStyle/>
          <a:p>
            <a:pPr algn="ctr"/>
            <a:r>
              <a:rPr lang="en-US" b="1" dirty="0"/>
              <a:t>introduction</a:t>
            </a:r>
          </a:p>
        </p:txBody>
      </p:sp>
      <p:sp>
        <p:nvSpPr>
          <p:cNvPr id="2" name="Slide Number Placeholder 5">
            <a:extLst>
              <a:ext uri="{FF2B5EF4-FFF2-40B4-BE49-F238E27FC236}">
                <a16:creationId xmlns:a16="http://schemas.microsoft.com/office/drawing/2014/main" id="{DE000A3B-70C1-4C56-EE1F-C19A4A466281}"/>
              </a:ext>
            </a:extLst>
          </p:cNvPr>
          <p:cNvSpPr>
            <a:spLocks noGrp="1"/>
          </p:cNvSpPr>
          <p:nvPr/>
        </p:nvSpPr>
        <p:spPr>
          <a:xfrm>
            <a:off x="10638458" y="6269678"/>
            <a:ext cx="987552"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2</a:t>
            </a:r>
          </a:p>
        </p:txBody>
      </p:sp>
    </p:spTree>
    <p:extLst>
      <p:ext uri="{BB962C8B-B14F-4D97-AF65-F5344CB8AC3E}">
        <p14:creationId xmlns:p14="http://schemas.microsoft.com/office/powerpoint/2010/main" val="608796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B1905D1B-3048-C478-4251-BDBB30629C3C}"/>
              </a:ext>
            </a:extLst>
          </p:cNvPr>
          <p:cNvGraphicFramePr>
            <a:graphicFrameLocks noGrp="1"/>
          </p:cNvGraphicFramePr>
          <p:nvPr>
            <p:ph sz="half" idx="2"/>
            <p:extLst>
              <p:ext uri="{D42A27DB-BD31-4B8C-83A1-F6EECF244321}">
                <p14:modId xmlns:p14="http://schemas.microsoft.com/office/powerpoint/2010/main" val="291054881"/>
              </p:ext>
            </p:extLst>
          </p:nvPr>
        </p:nvGraphicFramePr>
        <p:xfrm>
          <a:off x="1491343" y="3892639"/>
          <a:ext cx="9067800" cy="22222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3</a:t>
            </a:fld>
            <a:endParaRPr lang="en-US" dirty="0"/>
          </a:p>
        </p:txBody>
      </p:sp>
      <p:graphicFrame>
        <p:nvGraphicFramePr>
          <p:cNvPr id="7" name="Diagram 6">
            <a:extLst>
              <a:ext uri="{FF2B5EF4-FFF2-40B4-BE49-F238E27FC236}">
                <a16:creationId xmlns:a16="http://schemas.microsoft.com/office/drawing/2014/main" id="{8E0F2FC4-110D-F023-3BFA-81A5BDEA5F89}"/>
              </a:ext>
            </a:extLst>
          </p:cNvPr>
          <p:cNvGraphicFramePr/>
          <p:nvPr>
            <p:extLst>
              <p:ext uri="{D42A27DB-BD31-4B8C-83A1-F6EECF244321}">
                <p14:modId xmlns:p14="http://schemas.microsoft.com/office/powerpoint/2010/main" val="3453351219"/>
              </p:ext>
            </p:extLst>
          </p:nvPr>
        </p:nvGraphicFramePr>
        <p:xfrm>
          <a:off x="1491343" y="1500210"/>
          <a:ext cx="9067800" cy="203132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 name="TextBox 5">
            <a:extLst>
              <a:ext uri="{FF2B5EF4-FFF2-40B4-BE49-F238E27FC236}">
                <a16:creationId xmlns:a16="http://schemas.microsoft.com/office/drawing/2014/main" id="{AFF4A6B8-D9F2-513D-81BC-E9901EBA90F9}"/>
              </a:ext>
            </a:extLst>
          </p:cNvPr>
          <p:cNvSpPr txBox="1"/>
          <p:nvPr/>
        </p:nvSpPr>
        <p:spPr>
          <a:xfrm>
            <a:off x="2768600" y="3892639"/>
            <a:ext cx="6103256" cy="455756"/>
          </a:xfrm>
          <a:prstGeom prst="round2Same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15000"/>
              </a:lnSpc>
              <a:spcAft>
                <a:spcPts val="800"/>
              </a:spcAft>
              <a:buNone/>
            </a:pPr>
            <a:r>
              <a:rPr lang="en-US" sz="2000" b="1" kern="100" dirty="0">
                <a:effectLst/>
                <a:latin typeface="+mj-lt"/>
                <a:ea typeface="Aptos" panose="020B0004020202020204" pitchFamily="34" charset="0"/>
                <a:cs typeface="Arial" panose="020B0604020202020204" pitchFamily="34" charset="0"/>
              </a:rPr>
              <a:t>RESEARCH QUESTION</a:t>
            </a:r>
            <a:endParaRPr lang="en-GB" sz="1600" kern="100" dirty="0">
              <a:effectLst/>
              <a:latin typeface="+mj-lt"/>
              <a:ea typeface="Aptos" panose="020B0004020202020204" pitchFamily="34" charset="0"/>
              <a:cs typeface="Arial" panose="020B0604020202020204" pitchFamily="34" charset="0"/>
            </a:endParaRPr>
          </a:p>
        </p:txBody>
      </p:sp>
      <p:sp>
        <p:nvSpPr>
          <p:cNvPr id="12" name="Title 1">
            <a:extLst>
              <a:ext uri="{FF2B5EF4-FFF2-40B4-BE49-F238E27FC236}">
                <a16:creationId xmlns:a16="http://schemas.microsoft.com/office/drawing/2014/main" id="{79049D58-E7CE-56A1-96E9-36756E560A68}"/>
              </a:ext>
            </a:extLst>
          </p:cNvPr>
          <p:cNvSpPr>
            <a:spLocks noGrp="1"/>
          </p:cNvSpPr>
          <p:nvPr>
            <p:ph type="title"/>
          </p:nvPr>
        </p:nvSpPr>
        <p:spPr>
          <a:xfrm>
            <a:off x="2381102" y="1190271"/>
            <a:ext cx="6879012" cy="437221"/>
          </a:xfrm>
          <a:prstGeom prst="round2Same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a:noAutofit/>
          </a:bodyPr>
          <a:lstStyle/>
          <a:p>
            <a:pPr algn="ctr"/>
            <a:r>
              <a:rPr lang="en-GB" sz="2400" b="1" dirty="0"/>
              <a:t>Motivation</a:t>
            </a:r>
            <a:endParaRPr lang="en-US" sz="2400" b="1" dirty="0"/>
          </a:p>
        </p:txBody>
      </p:sp>
    </p:spTree>
    <p:extLst>
      <p:ext uri="{BB962C8B-B14F-4D97-AF65-F5344CB8AC3E}">
        <p14:creationId xmlns:p14="http://schemas.microsoft.com/office/powerpoint/2010/main" val="3571516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AFA5E-469B-2BFC-9D4E-BD1EC6E48CA0}"/>
              </a:ext>
            </a:extLst>
          </p:cNvPr>
          <p:cNvSpPr>
            <a:spLocks noGrp="1"/>
          </p:cNvSpPr>
          <p:nvPr>
            <p:ph type="ctrTitle"/>
          </p:nvPr>
        </p:nvSpPr>
        <p:spPr>
          <a:xfrm>
            <a:off x="1683658" y="1427973"/>
            <a:ext cx="9044577" cy="467826"/>
          </a:xfrm>
          <a:prstGeom prst="roundRect">
            <a:avLst/>
          </a:prstGeom>
          <a:solidFill>
            <a:schemeClr val="accent1"/>
          </a:solidFill>
        </p:spPr>
        <p:txBody>
          <a:bodyPr/>
          <a:lstStyle/>
          <a:p>
            <a:pPr algn="ctr"/>
            <a:r>
              <a:rPr lang="en-GB" sz="2400" b="1" dirty="0">
                <a:solidFill>
                  <a:schemeClr val="tx1"/>
                </a:solidFill>
              </a:rPr>
              <a:t>Overview of Previous Work Related to the Project</a:t>
            </a:r>
            <a:endParaRPr lang="en-US" sz="2400" b="1" dirty="0">
              <a:solidFill>
                <a:schemeClr val="tx1"/>
              </a:solidFill>
            </a:endParaRPr>
          </a:p>
        </p:txBody>
      </p:sp>
      <p:cxnSp>
        <p:nvCxnSpPr>
          <p:cNvPr id="21" name="Straight Connector 20">
            <a:extLst>
              <a:ext uri="{FF2B5EF4-FFF2-40B4-BE49-F238E27FC236}">
                <a16:creationId xmlns:a16="http://schemas.microsoft.com/office/drawing/2014/main" id="{944268F6-A361-9907-F87F-9C4377ECAE6D}"/>
              </a:ext>
              <a:ext uri="{C183D7F6-B498-43B3-948B-1728B52AA6E4}">
                <adec:decorative xmlns:adec="http://schemas.microsoft.com/office/drawing/2017/decorative" val="1"/>
              </a:ext>
            </a:extLst>
          </p:cNvPr>
          <p:cNvCxnSpPr>
            <a:cxnSpLocks/>
          </p:cNvCxnSpPr>
          <p:nvPr/>
        </p:nvCxnSpPr>
        <p:spPr>
          <a:xfrm flipH="1" flipV="1">
            <a:off x="0" y="254643"/>
            <a:ext cx="6096000" cy="8557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B29E7F53-4EC1-BB8D-8273-5816FE124779}"/>
              </a:ext>
            </a:extLst>
          </p:cNvPr>
          <p:cNvGrpSpPr/>
          <p:nvPr/>
        </p:nvGrpSpPr>
        <p:grpSpPr>
          <a:xfrm>
            <a:off x="939355" y="2039257"/>
            <a:ext cx="10182660" cy="3156857"/>
            <a:chOff x="924841" y="2465864"/>
            <a:chExt cx="10182660" cy="1165870"/>
          </a:xfrm>
        </p:grpSpPr>
        <p:sp>
          <p:nvSpPr>
            <p:cNvPr id="20" name="Freeform 19">
              <a:extLst>
                <a:ext uri="{FF2B5EF4-FFF2-40B4-BE49-F238E27FC236}">
                  <a16:creationId xmlns:a16="http://schemas.microsoft.com/office/drawing/2014/main" id="{95D664AE-017F-27B0-F6A9-04531198CD67}"/>
                </a:ext>
              </a:extLst>
            </p:cNvPr>
            <p:cNvSpPr/>
            <p:nvPr/>
          </p:nvSpPr>
          <p:spPr>
            <a:xfrm>
              <a:off x="924841" y="2465864"/>
              <a:ext cx="3104469" cy="1165870"/>
            </a:xfrm>
            <a:custGeom>
              <a:avLst/>
              <a:gdLst>
                <a:gd name="csX0" fmla="*/ 0 w 3104469"/>
                <a:gd name="csY0" fmla="*/ 0 h 1165870"/>
                <a:gd name="csX1" fmla="*/ 3104469 w 3104469"/>
                <a:gd name="csY1" fmla="*/ 0 h 1165870"/>
                <a:gd name="csX2" fmla="*/ 3104469 w 3104469"/>
                <a:gd name="csY2" fmla="*/ 1165870 h 1165870"/>
                <a:gd name="csX3" fmla="*/ 0 w 3104469"/>
                <a:gd name="csY3" fmla="*/ 1165870 h 1165870"/>
                <a:gd name="csX4" fmla="*/ 0 w 3104469"/>
                <a:gd name="csY4" fmla="*/ 0 h 1165870"/>
              </a:gdLst>
              <a:ahLst/>
              <a:cxnLst>
                <a:cxn ang="0">
                  <a:pos x="csX0" y="csY0"/>
                </a:cxn>
                <a:cxn ang="0">
                  <a:pos x="csX1" y="csY1"/>
                </a:cxn>
                <a:cxn ang="0">
                  <a:pos x="csX2" y="csY2"/>
                </a:cxn>
                <a:cxn ang="0">
                  <a:pos x="csX3" y="csY3"/>
                </a:cxn>
                <a:cxn ang="0">
                  <a:pos x="csX4" y="csY4"/>
                </a:cxn>
              </a:cxnLst>
              <a:rect l="l" t="t" r="r" b="b"/>
              <a:pathLst>
                <a:path w="3104469" h="1165870">
                  <a:moveTo>
                    <a:pt x="0" y="0"/>
                  </a:moveTo>
                  <a:lnTo>
                    <a:pt x="3104469" y="0"/>
                  </a:lnTo>
                  <a:lnTo>
                    <a:pt x="3104469" y="1165870"/>
                  </a:lnTo>
                  <a:lnTo>
                    <a:pt x="0" y="1165870"/>
                  </a:lnTo>
                  <a:lnTo>
                    <a:pt x="0" y="0"/>
                  </a:lnTo>
                  <a:close/>
                </a:path>
              </a:pathLst>
            </a:custGeom>
            <a:scene3d>
              <a:camera prst="orthographicFront"/>
              <a:lightRig rig="threePt" dir="t">
                <a:rot lat="0" lon="0" rev="7500000"/>
              </a:lightRig>
            </a:scene3d>
            <a:sp3d prstMaterial="plastic">
              <a:bevelT w="127000" h="25400" prst="relaxedInset"/>
            </a:sp3d>
          </p:spPr>
          <p:style>
            <a:lnRef idx="0">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US" sz="1600" b="1" i="0" kern="1200" baseline="0" dirty="0">
                  <a:solidFill>
                    <a:schemeClr val="tx1"/>
                  </a:solidFill>
                </a:rPr>
                <a:t>Al </a:t>
              </a:r>
              <a:r>
                <a:rPr lang="en-US" sz="1600" b="1" i="0" kern="1200" baseline="0" dirty="0" err="1">
                  <a:solidFill>
                    <a:schemeClr val="tx1"/>
                  </a:solidFill>
                </a:rPr>
                <a:t>Mudawi</a:t>
              </a:r>
              <a:r>
                <a:rPr lang="en-US" sz="1600" b="1" i="0" kern="1200" baseline="0" dirty="0">
                  <a:solidFill>
                    <a:schemeClr val="tx1"/>
                  </a:solidFill>
                </a:rPr>
                <a:t> and </a:t>
              </a:r>
              <a:r>
                <a:rPr lang="en-US" sz="1600" b="1" i="0" kern="1200" baseline="0" dirty="0" err="1">
                  <a:solidFill>
                    <a:schemeClr val="tx1"/>
                  </a:solidFill>
                </a:rPr>
                <a:t>Alazeb</a:t>
              </a:r>
              <a:r>
                <a:rPr lang="en-US" sz="1600" b="1" i="0" kern="1200" baseline="0" dirty="0">
                  <a:solidFill>
                    <a:schemeClr val="tx1"/>
                  </a:solidFill>
                </a:rPr>
                <a:t> (2022) </a:t>
              </a:r>
              <a:r>
                <a:rPr lang="en-US" sz="1600" i="0" kern="1200" baseline="0" dirty="0">
                  <a:solidFill>
                    <a:schemeClr val="tx1"/>
                  </a:solidFill>
                </a:rPr>
                <a:t>compared several machine learning models for cervical cancer prediction, including Logistic Regression, Decision Tree, and Random Forest, and found that ensemble methods provided more accurate predictions of cervical cancer risk than simpler models.</a:t>
              </a:r>
              <a:endParaRPr lang="en-GB" sz="1600" kern="1200" dirty="0">
                <a:solidFill>
                  <a:schemeClr val="tx1"/>
                </a:solidFill>
              </a:endParaRPr>
            </a:p>
          </p:txBody>
        </p:sp>
        <p:sp>
          <p:nvSpPr>
            <p:cNvPr id="23" name="Freeform 22">
              <a:extLst>
                <a:ext uri="{FF2B5EF4-FFF2-40B4-BE49-F238E27FC236}">
                  <a16:creationId xmlns:a16="http://schemas.microsoft.com/office/drawing/2014/main" id="{287A2F1E-377D-7BD3-CFA4-89381E29338A}"/>
                </a:ext>
              </a:extLst>
            </p:cNvPr>
            <p:cNvSpPr/>
            <p:nvPr/>
          </p:nvSpPr>
          <p:spPr>
            <a:xfrm>
              <a:off x="4463936" y="2465864"/>
              <a:ext cx="3104469" cy="1165870"/>
            </a:xfrm>
            <a:custGeom>
              <a:avLst/>
              <a:gdLst>
                <a:gd name="csX0" fmla="*/ 0 w 3104469"/>
                <a:gd name="csY0" fmla="*/ 0 h 1165870"/>
                <a:gd name="csX1" fmla="*/ 3104469 w 3104469"/>
                <a:gd name="csY1" fmla="*/ 0 h 1165870"/>
                <a:gd name="csX2" fmla="*/ 3104469 w 3104469"/>
                <a:gd name="csY2" fmla="*/ 1165870 h 1165870"/>
                <a:gd name="csX3" fmla="*/ 0 w 3104469"/>
                <a:gd name="csY3" fmla="*/ 1165870 h 1165870"/>
                <a:gd name="csX4" fmla="*/ 0 w 3104469"/>
                <a:gd name="csY4" fmla="*/ 0 h 1165870"/>
              </a:gdLst>
              <a:ahLst/>
              <a:cxnLst>
                <a:cxn ang="0">
                  <a:pos x="csX0" y="csY0"/>
                </a:cxn>
                <a:cxn ang="0">
                  <a:pos x="csX1" y="csY1"/>
                </a:cxn>
                <a:cxn ang="0">
                  <a:pos x="csX2" y="csY2"/>
                </a:cxn>
                <a:cxn ang="0">
                  <a:pos x="csX3" y="csY3"/>
                </a:cxn>
                <a:cxn ang="0">
                  <a:pos x="csX4" y="csY4"/>
                </a:cxn>
              </a:cxnLst>
              <a:rect l="l" t="t" r="r" b="b"/>
              <a:pathLst>
                <a:path w="3104469" h="1165870">
                  <a:moveTo>
                    <a:pt x="0" y="0"/>
                  </a:moveTo>
                  <a:lnTo>
                    <a:pt x="3104469" y="0"/>
                  </a:lnTo>
                  <a:lnTo>
                    <a:pt x="3104469" y="1165870"/>
                  </a:lnTo>
                  <a:lnTo>
                    <a:pt x="0" y="1165870"/>
                  </a:lnTo>
                  <a:lnTo>
                    <a:pt x="0" y="0"/>
                  </a:lnTo>
                  <a:close/>
                </a:path>
              </a:pathLst>
            </a:custGeom>
            <a:scene3d>
              <a:camera prst="orthographicFront"/>
              <a:lightRig rig="threePt" dir="t">
                <a:rot lat="0" lon="0" rev="7500000"/>
              </a:lightRig>
            </a:scene3d>
            <a:sp3d prstMaterial="plastic">
              <a:bevelT w="127000" h="25400" prst="relaxedInset"/>
            </a:sp3d>
          </p:spPr>
          <p:style>
            <a:lnRef idx="0">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600" b="1" i="0" kern="1200" baseline="0" dirty="0">
                  <a:solidFill>
                    <a:schemeClr val="tx1"/>
                  </a:solidFill>
                </a:rPr>
                <a:t>Uddin et al. (2024)</a:t>
              </a:r>
              <a:r>
                <a:rPr lang="en-US" sz="1600" b="0" i="0" kern="1200" baseline="0" dirty="0">
                  <a:solidFill>
                    <a:schemeClr val="tx1"/>
                  </a:solidFill>
                </a:rPr>
                <a:t> extended this area of research by combining hybrid feature selection with ensemble learning, reporting very high classification accuracy. </a:t>
              </a:r>
              <a:endParaRPr lang="en-GB" sz="1600" kern="1200" dirty="0">
                <a:solidFill>
                  <a:schemeClr val="tx1"/>
                </a:solidFill>
              </a:endParaRPr>
            </a:p>
          </p:txBody>
        </p:sp>
        <p:sp>
          <p:nvSpPr>
            <p:cNvPr id="25" name="Freeform 24">
              <a:extLst>
                <a:ext uri="{FF2B5EF4-FFF2-40B4-BE49-F238E27FC236}">
                  <a16:creationId xmlns:a16="http://schemas.microsoft.com/office/drawing/2014/main" id="{FD89999C-A9D2-9D59-26E4-E80B4134C858}"/>
                </a:ext>
              </a:extLst>
            </p:cNvPr>
            <p:cNvSpPr/>
            <p:nvPr/>
          </p:nvSpPr>
          <p:spPr>
            <a:xfrm>
              <a:off x="8003032" y="2465864"/>
              <a:ext cx="3104469" cy="1165870"/>
            </a:xfrm>
            <a:custGeom>
              <a:avLst/>
              <a:gdLst>
                <a:gd name="csX0" fmla="*/ 0 w 3104469"/>
                <a:gd name="csY0" fmla="*/ 0 h 1165870"/>
                <a:gd name="csX1" fmla="*/ 3104469 w 3104469"/>
                <a:gd name="csY1" fmla="*/ 0 h 1165870"/>
                <a:gd name="csX2" fmla="*/ 3104469 w 3104469"/>
                <a:gd name="csY2" fmla="*/ 1165870 h 1165870"/>
                <a:gd name="csX3" fmla="*/ 0 w 3104469"/>
                <a:gd name="csY3" fmla="*/ 1165870 h 1165870"/>
                <a:gd name="csX4" fmla="*/ 0 w 3104469"/>
                <a:gd name="csY4" fmla="*/ 0 h 1165870"/>
              </a:gdLst>
              <a:ahLst/>
              <a:cxnLst>
                <a:cxn ang="0">
                  <a:pos x="csX0" y="csY0"/>
                </a:cxn>
                <a:cxn ang="0">
                  <a:pos x="csX1" y="csY1"/>
                </a:cxn>
                <a:cxn ang="0">
                  <a:pos x="csX2" y="csY2"/>
                </a:cxn>
                <a:cxn ang="0">
                  <a:pos x="csX3" y="csY3"/>
                </a:cxn>
                <a:cxn ang="0">
                  <a:pos x="csX4" y="csY4"/>
                </a:cxn>
              </a:cxnLst>
              <a:rect l="l" t="t" r="r" b="b"/>
              <a:pathLst>
                <a:path w="3104469" h="1165870">
                  <a:moveTo>
                    <a:pt x="0" y="0"/>
                  </a:moveTo>
                  <a:lnTo>
                    <a:pt x="3104469" y="0"/>
                  </a:lnTo>
                  <a:lnTo>
                    <a:pt x="3104469" y="1165870"/>
                  </a:lnTo>
                  <a:lnTo>
                    <a:pt x="0" y="1165870"/>
                  </a:lnTo>
                  <a:lnTo>
                    <a:pt x="0" y="0"/>
                  </a:lnTo>
                  <a:close/>
                </a:path>
              </a:pathLst>
            </a:custGeom>
            <a:scene3d>
              <a:camera prst="orthographicFront"/>
              <a:lightRig rig="threePt" dir="t">
                <a:rot lat="0" lon="0" rev="7500000"/>
              </a:lightRig>
            </a:scene3d>
            <a:sp3d prstMaterial="plastic">
              <a:bevelT w="127000" h="25400" prst="relaxedInset"/>
            </a:sp3d>
          </p:spPr>
          <p:style>
            <a:lnRef idx="0">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600" b="0" i="0" kern="1200" baseline="0" dirty="0">
                  <a:solidFill>
                    <a:schemeClr val="tx1"/>
                  </a:solidFill>
                </a:rPr>
                <a:t>Similarly, </a:t>
              </a:r>
              <a:r>
                <a:rPr lang="en-US" sz="1600" b="1" i="0" kern="1200" baseline="0" dirty="0">
                  <a:solidFill>
                    <a:schemeClr val="tx1"/>
                  </a:solidFill>
                </a:rPr>
                <a:t>Kaushik et al. (2022) </a:t>
              </a:r>
              <a:r>
                <a:rPr lang="en-US" sz="1600" b="0" i="0" kern="1200" baseline="0" dirty="0">
                  <a:solidFill>
                    <a:schemeClr val="tx1"/>
                  </a:solidFill>
                </a:rPr>
                <a:t>applied </a:t>
              </a:r>
              <a:r>
                <a:rPr lang="en-US" sz="1600" b="0" i="0" kern="1200" baseline="0" dirty="0" err="1">
                  <a:solidFill>
                    <a:schemeClr val="tx1"/>
                  </a:solidFill>
                </a:rPr>
                <a:t>XGBoost</a:t>
              </a:r>
              <a:r>
                <a:rPr lang="en-US" sz="1600" b="0" i="0" kern="1200" baseline="0" dirty="0">
                  <a:solidFill>
                    <a:schemeClr val="tx1"/>
                  </a:solidFill>
                </a:rPr>
                <a:t> for cervical cancer prediction and demonstrated that gradient boosting can achieve strong performance on structured healthcare datasets.</a:t>
              </a:r>
              <a:endParaRPr lang="en-GB" sz="1600" kern="1200" dirty="0">
                <a:solidFill>
                  <a:schemeClr val="tx1"/>
                </a:solidFill>
              </a:endParaRPr>
            </a:p>
          </p:txBody>
        </p:sp>
      </p:grpSp>
      <p:sp>
        <p:nvSpPr>
          <p:cNvPr id="3" name="Slide Number Placeholder 5">
            <a:extLst>
              <a:ext uri="{FF2B5EF4-FFF2-40B4-BE49-F238E27FC236}">
                <a16:creationId xmlns:a16="http://schemas.microsoft.com/office/drawing/2014/main" id="{F1F724CB-20D3-6D9E-4331-2ADBD9C47263}"/>
              </a:ext>
            </a:extLst>
          </p:cNvPr>
          <p:cNvSpPr>
            <a:spLocks noGrp="1"/>
          </p:cNvSpPr>
          <p:nvPr/>
        </p:nvSpPr>
        <p:spPr>
          <a:xfrm>
            <a:off x="10638458" y="6269678"/>
            <a:ext cx="987552"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4</a:t>
            </a:r>
          </a:p>
        </p:txBody>
      </p:sp>
    </p:spTree>
    <p:extLst>
      <p:ext uri="{BB962C8B-B14F-4D97-AF65-F5344CB8AC3E}">
        <p14:creationId xmlns:p14="http://schemas.microsoft.com/office/powerpoint/2010/main" val="2241459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Content Placeholder 34">
            <a:extLst>
              <a:ext uri="{FF2B5EF4-FFF2-40B4-BE49-F238E27FC236}">
                <a16:creationId xmlns:a16="http://schemas.microsoft.com/office/drawing/2014/main" id="{EDBE6233-75E9-40D1-968F-58CA9AD0FF50}"/>
              </a:ext>
            </a:extLst>
          </p:cNvPr>
          <p:cNvSpPr>
            <a:spLocks noGrp="1"/>
          </p:cNvSpPr>
          <p:nvPr>
            <p:ph sz="half" idx="13"/>
          </p:nvPr>
        </p:nvSpPr>
        <p:spPr>
          <a:xfrm>
            <a:off x="1312911" y="897421"/>
            <a:ext cx="8879114" cy="2105079"/>
          </a:xfrm>
          <a:prstGeom prst="snip2DiagRect">
            <a:avLst/>
          </a:prstGeom>
        </p:spPr>
        <p:style>
          <a:lnRef idx="2">
            <a:schemeClr val="dk1"/>
          </a:lnRef>
          <a:fillRef idx="1">
            <a:schemeClr val="lt1"/>
          </a:fillRef>
          <a:effectRef idx="0">
            <a:schemeClr val="dk1"/>
          </a:effectRef>
          <a:fontRef idx="minor">
            <a:schemeClr val="dk1"/>
          </a:fontRef>
        </p:style>
        <p:txBody>
          <a:bodyPr>
            <a:normAutofit fontScale="92500" lnSpcReduction="20000"/>
          </a:bodyPr>
          <a:lstStyle/>
          <a:p>
            <a:pPr marL="285750" indent="-285750">
              <a:buFont typeface="Wingdings" pitchFamily="2" charset="2"/>
              <a:buChar char="Ø"/>
            </a:pPr>
            <a:r>
              <a:rPr lang="en-GB" sz="2000" noProof="1"/>
              <a:t>Compare Logistic Regression, Random Forest, and XGBoost for cervical cancer risk prediction.</a:t>
            </a:r>
          </a:p>
          <a:p>
            <a:pPr marL="285750" indent="-285750">
              <a:buFont typeface="Wingdings" pitchFamily="2" charset="2"/>
              <a:buChar char="Ø"/>
            </a:pPr>
            <a:r>
              <a:rPr lang="en-GB" sz="2000" noProof="1"/>
              <a:t>Use behavioural and clinical variables from the UCI Cervical Cancer dataset.</a:t>
            </a:r>
          </a:p>
          <a:p>
            <a:pPr marL="285750" indent="-285750">
              <a:buFont typeface="Wingdings" pitchFamily="2" charset="2"/>
              <a:buChar char="Ø"/>
            </a:pPr>
            <a:r>
              <a:rPr lang="en-GB" sz="2000" noProof="1"/>
              <a:t>Analyse cervical cancer incidence and prevalence in West Africa using GBD IHME data.</a:t>
            </a:r>
          </a:p>
        </p:txBody>
      </p:sp>
      <p:sp>
        <p:nvSpPr>
          <p:cNvPr id="50" name="Content Placeholder 49">
            <a:extLst>
              <a:ext uri="{FF2B5EF4-FFF2-40B4-BE49-F238E27FC236}">
                <a16:creationId xmlns:a16="http://schemas.microsoft.com/office/drawing/2014/main" id="{8F6B2AE9-DDE4-FD99-A235-3B39EEE21481}"/>
              </a:ext>
            </a:extLst>
          </p:cNvPr>
          <p:cNvSpPr>
            <a:spLocks noGrp="1"/>
          </p:cNvSpPr>
          <p:nvPr>
            <p:ph sz="half" idx="14"/>
          </p:nvPr>
        </p:nvSpPr>
        <p:spPr>
          <a:xfrm>
            <a:off x="1119253" y="3599991"/>
            <a:ext cx="9515921" cy="2368331"/>
          </a:xfrm>
          <a:prstGeom prst="snip2DiagRect">
            <a:avLst/>
          </a:prstGeom>
        </p:spPr>
        <p:style>
          <a:lnRef idx="2">
            <a:schemeClr val="dk1"/>
          </a:lnRef>
          <a:fillRef idx="1">
            <a:schemeClr val="lt1"/>
          </a:fillRef>
          <a:effectRef idx="0">
            <a:schemeClr val="dk1"/>
          </a:effectRef>
          <a:fontRef idx="minor">
            <a:schemeClr val="dk1"/>
          </a:fontRef>
        </p:style>
        <p:txBody>
          <a:bodyPr>
            <a:normAutofit/>
          </a:bodyPr>
          <a:lstStyle/>
          <a:p>
            <a:pPr marL="285750" indent="-285750">
              <a:lnSpc>
                <a:spcPct val="120000"/>
              </a:lnSpc>
              <a:buFont typeface="Wingdings" pitchFamily="2" charset="2"/>
              <a:buChar char="Ø"/>
            </a:pPr>
            <a:r>
              <a:rPr lang="en-GB" noProof="1"/>
              <a:t>Similar to previous studies in using machine learning for cervical cancer prediction.</a:t>
            </a:r>
          </a:p>
          <a:p>
            <a:pPr marL="285750" indent="-285750">
              <a:lnSpc>
                <a:spcPct val="120000"/>
              </a:lnSpc>
              <a:buFont typeface="Wingdings" pitchFamily="2" charset="2"/>
              <a:buChar char="Ø"/>
            </a:pPr>
            <a:r>
              <a:rPr lang="en-GB" noProof="1"/>
              <a:t>Different because it also includes population-level incidence and prevalence analysis.</a:t>
            </a:r>
          </a:p>
          <a:p>
            <a:pPr marL="285750" indent="-285750">
              <a:lnSpc>
                <a:spcPct val="120000"/>
              </a:lnSpc>
              <a:buFont typeface="Wingdings" pitchFamily="2" charset="2"/>
              <a:buChar char="Ø"/>
            </a:pPr>
            <a:r>
              <a:rPr lang="en-GB" noProof="1"/>
              <a:t>Extends previous work beyond model accuracy to a broader regional perspective.</a:t>
            </a:r>
          </a:p>
        </p:txBody>
      </p:sp>
      <p:sp>
        <p:nvSpPr>
          <p:cNvPr id="8" name="Slide Number Placeholder 7">
            <a:extLst>
              <a:ext uri="{FF2B5EF4-FFF2-40B4-BE49-F238E27FC236}">
                <a16:creationId xmlns:a16="http://schemas.microsoft.com/office/drawing/2014/main" id="{8F44A959-C2BB-9170-C99C-1A2EDB71B994}"/>
              </a:ext>
            </a:extLst>
          </p:cNvPr>
          <p:cNvSpPr>
            <a:spLocks noGrp="1"/>
          </p:cNvSpPr>
          <p:nvPr>
            <p:ph type="sldNum" sz="quarter" idx="12"/>
          </p:nvPr>
        </p:nvSpPr>
        <p:spPr>
          <a:xfrm>
            <a:off x="10373350" y="6356349"/>
            <a:ext cx="987552" cy="365125"/>
          </a:xfrm>
        </p:spPr>
        <p:style>
          <a:lnRef idx="2">
            <a:schemeClr val="dk1"/>
          </a:lnRef>
          <a:fillRef idx="1">
            <a:schemeClr val="lt1"/>
          </a:fillRef>
          <a:effectRef idx="0">
            <a:schemeClr val="dk1"/>
          </a:effectRef>
          <a:fontRef idx="minor">
            <a:schemeClr val="dk1"/>
          </a:fontRef>
        </p:style>
        <p:txBody>
          <a:bodyPr/>
          <a:lstStyle/>
          <a:p>
            <a:fld id="{A49DFD55-3C28-40EF-9E31-A92D2E4017FF}" type="slidenum">
              <a:rPr lang="en-US" smtClean="0"/>
              <a:pPr/>
              <a:t>5</a:t>
            </a:fld>
            <a:endParaRPr lang="en-US" dirty="0"/>
          </a:p>
        </p:txBody>
      </p:sp>
      <p:sp>
        <p:nvSpPr>
          <p:cNvPr id="7" name="Title 1">
            <a:extLst>
              <a:ext uri="{FF2B5EF4-FFF2-40B4-BE49-F238E27FC236}">
                <a16:creationId xmlns:a16="http://schemas.microsoft.com/office/drawing/2014/main" id="{01059594-44A9-443F-ADBB-229D4A90A075}"/>
              </a:ext>
            </a:extLst>
          </p:cNvPr>
          <p:cNvSpPr>
            <a:spLocks noGrp="1"/>
          </p:cNvSpPr>
          <p:nvPr>
            <p:ph type="title"/>
          </p:nvPr>
        </p:nvSpPr>
        <p:spPr>
          <a:xfrm>
            <a:off x="2891378" y="419180"/>
            <a:ext cx="5419272" cy="478241"/>
          </a:xfrm>
          <a:prstGeom prst="round2SameRect">
            <a:avLst/>
          </a:prstGeom>
        </p:spPr>
        <p:style>
          <a:lnRef idx="2">
            <a:schemeClr val="dk1"/>
          </a:lnRef>
          <a:fillRef idx="1">
            <a:schemeClr val="lt1"/>
          </a:fillRef>
          <a:effectRef idx="0">
            <a:schemeClr val="dk1"/>
          </a:effectRef>
          <a:fontRef idx="minor">
            <a:schemeClr val="dk1"/>
          </a:fontRef>
        </p:style>
        <p:txBody>
          <a:bodyPr>
            <a:normAutofit/>
          </a:bodyPr>
          <a:lstStyle/>
          <a:p>
            <a:pPr algn="ctr"/>
            <a:r>
              <a:rPr lang="en-GB" sz="2200" b="1" noProof="1"/>
              <a:t>What this project will do</a:t>
            </a:r>
          </a:p>
        </p:txBody>
      </p:sp>
      <p:sp>
        <p:nvSpPr>
          <p:cNvPr id="11" name="Text Placeholder 13">
            <a:extLst>
              <a:ext uri="{FF2B5EF4-FFF2-40B4-BE49-F238E27FC236}">
                <a16:creationId xmlns:a16="http://schemas.microsoft.com/office/drawing/2014/main" id="{68B05184-DCD1-E6EF-5A77-3B463561412C}"/>
              </a:ext>
            </a:extLst>
          </p:cNvPr>
          <p:cNvSpPr txBox="1">
            <a:spLocks/>
          </p:cNvSpPr>
          <p:nvPr/>
        </p:nvSpPr>
        <p:spPr>
          <a:xfrm>
            <a:off x="2963789" y="3068996"/>
            <a:ext cx="5419272" cy="464499"/>
          </a:xfrm>
          <a:prstGeom prst="round2Same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lang="en-US" sz="1800" b="1" kern="1200" spc="50" baseline="0" dirty="0" smtClean="0">
                <a:solidFill>
                  <a:schemeClr val="tx1"/>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dk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dk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dk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dk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dk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dk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dk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dk1"/>
                </a:solidFill>
                <a:latin typeface="+mn-lt"/>
                <a:ea typeface="+mn-ea"/>
                <a:cs typeface="+mn-cs"/>
              </a:defRPr>
            </a:lvl9pPr>
          </a:lstStyle>
          <a:p>
            <a:r>
              <a:rPr lang="en-GB" sz="2400" dirty="0"/>
              <a:t>HOW IT COMPARES TO PREVIOUS WORK</a:t>
            </a:r>
          </a:p>
        </p:txBody>
      </p:sp>
    </p:spTree>
    <p:extLst>
      <p:ext uri="{BB962C8B-B14F-4D97-AF65-F5344CB8AC3E}">
        <p14:creationId xmlns:p14="http://schemas.microsoft.com/office/powerpoint/2010/main" val="103458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C4B8313-9270-4128-8674-3A3E42B806BC}"/>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6</a:t>
            </a:fld>
            <a:endParaRPr lang="en-US" dirty="0"/>
          </a:p>
        </p:txBody>
      </p:sp>
      <p:cxnSp>
        <p:nvCxnSpPr>
          <p:cNvPr id="23" name="Straight Connector 22">
            <a:extLst>
              <a:ext uri="{FF2B5EF4-FFF2-40B4-BE49-F238E27FC236}">
                <a16:creationId xmlns:a16="http://schemas.microsoft.com/office/drawing/2014/main" id="{D87F08D6-2CA7-4A5A-BE34-07113DCA535D}"/>
              </a:ext>
              <a:ext uri="{C183D7F6-B498-43B3-948B-1728B52AA6E4}">
                <adec:decorative xmlns:adec="http://schemas.microsoft.com/office/drawing/2017/decorative" val="1"/>
              </a:ext>
            </a:extLst>
          </p:cNvPr>
          <p:cNvCxnSpPr>
            <a:cxnSpLocks/>
          </p:cNvCxnSpPr>
          <p:nvPr userDrawn="1"/>
        </p:nvCxnSpPr>
        <p:spPr>
          <a:xfrm flipH="1" flipV="1">
            <a:off x="0" y="876300"/>
            <a:ext cx="5246255" cy="17098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AC4641A0-6C87-A33E-2B8F-40F74726B2BD}"/>
              </a:ext>
            </a:extLst>
          </p:cNvPr>
          <p:cNvGrpSpPr/>
          <p:nvPr/>
        </p:nvGrpSpPr>
        <p:grpSpPr>
          <a:xfrm>
            <a:off x="928915" y="1194807"/>
            <a:ext cx="9622972" cy="5213340"/>
            <a:chOff x="928915" y="1194807"/>
            <a:chExt cx="9622972" cy="5213340"/>
          </a:xfrm>
        </p:grpSpPr>
        <p:sp>
          <p:nvSpPr>
            <p:cNvPr id="21" name="Freeform 20">
              <a:extLst>
                <a:ext uri="{FF2B5EF4-FFF2-40B4-BE49-F238E27FC236}">
                  <a16:creationId xmlns:a16="http://schemas.microsoft.com/office/drawing/2014/main" id="{566BE6CA-DBBA-121E-BD4C-445549BB165F}"/>
                </a:ext>
              </a:extLst>
            </p:cNvPr>
            <p:cNvSpPr/>
            <p:nvPr/>
          </p:nvSpPr>
          <p:spPr>
            <a:xfrm>
              <a:off x="928915" y="1194807"/>
              <a:ext cx="9622972" cy="785070"/>
            </a:xfrm>
            <a:custGeom>
              <a:avLst/>
              <a:gdLst>
                <a:gd name="csX0" fmla="*/ 0 w 9622972"/>
                <a:gd name="csY0" fmla="*/ 130848 h 785070"/>
                <a:gd name="csX1" fmla="*/ 130848 w 9622972"/>
                <a:gd name="csY1" fmla="*/ 0 h 785070"/>
                <a:gd name="csX2" fmla="*/ 9492124 w 9622972"/>
                <a:gd name="csY2" fmla="*/ 0 h 785070"/>
                <a:gd name="csX3" fmla="*/ 9622972 w 9622972"/>
                <a:gd name="csY3" fmla="*/ 130848 h 785070"/>
                <a:gd name="csX4" fmla="*/ 9622972 w 9622972"/>
                <a:gd name="csY4" fmla="*/ 654222 h 785070"/>
                <a:gd name="csX5" fmla="*/ 9492124 w 9622972"/>
                <a:gd name="csY5" fmla="*/ 785070 h 785070"/>
                <a:gd name="csX6" fmla="*/ 130848 w 9622972"/>
                <a:gd name="csY6" fmla="*/ 785070 h 785070"/>
                <a:gd name="csX7" fmla="*/ 0 w 9622972"/>
                <a:gd name="csY7" fmla="*/ 654222 h 785070"/>
                <a:gd name="csX8" fmla="*/ 0 w 9622972"/>
                <a:gd name="csY8" fmla="*/ 130848 h 7850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622972" h="785070">
                  <a:moveTo>
                    <a:pt x="0" y="130848"/>
                  </a:moveTo>
                  <a:cubicBezTo>
                    <a:pt x="0" y="58583"/>
                    <a:pt x="58583" y="0"/>
                    <a:pt x="130848" y="0"/>
                  </a:cubicBezTo>
                  <a:lnTo>
                    <a:pt x="9492124" y="0"/>
                  </a:lnTo>
                  <a:cubicBezTo>
                    <a:pt x="9564389" y="0"/>
                    <a:pt x="9622972" y="58583"/>
                    <a:pt x="9622972" y="130848"/>
                  </a:cubicBezTo>
                  <a:lnTo>
                    <a:pt x="9622972" y="654222"/>
                  </a:lnTo>
                  <a:cubicBezTo>
                    <a:pt x="9622972" y="726487"/>
                    <a:pt x="9564389" y="785070"/>
                    <a:pt x="9492124" y="785070"/>
                  </a:cubicBezTo>
                  <a:lnTo>
                    <a:pt x="130848" y="785070"/>
                  </a:lnTo>
                  <a:cubicBezTo>
                    <a:pt x="58583" y="785070"/>
                    <a:pt x="0" y="726487"/>
                    <a:pt x="0" y="654222"/>
                  </a:cubicBezTo>
                  <a:lnTo>
                    <a:pt x="0" y="130848"/>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14524" tIns="114524" rIns="114524" bIns="114524" numCol="1" spcCol="1270" anchor="ctr" anchorCtr="0">
              <a:noAutofit/>
            </a:bodyPr>
            <a:lstStyle/>
            <a:p>
              <a:pPr defTabSz="889000">
                <a:lnSpc>
                  <a:spcPct val="90000"/>
                </a:lnSpc>
                <a:spcBef>
                  <a:spcPct val="0"/>
                </a:spcBef>
                <a:spcAft>
                  <a:spcPct val="35000"/>
                </a:spcAft>
              </a:pPr>
              <a:r>
                <a:rPr lang="en-GB" sz="2000" b="1" kern="1200" dirty="0">
                  <a:solidFill>
                    <a:schemeClr val="tx1"/>
                  </a:solidFill>
                </a:rPr>
                <a:t>Cervical Cancer Risk Factors dataset (UCI Machine Learning Repository) – Machine learning analysis </a:t>
              </a:r>
              <a:r>
                <a:rPr lang="en-US" sz="2000" dirty="0">
                  <a:solidFill>
                    <a:srgbClr val="000000"/>
                  </a:solidFill>
                </a:rPr>
                <a:t>🔬</a:t>
              </a:r>
              <a:r>
                <a:rPr lang="en-US" sz="2000" dirty="0"/>
                <a:t> </a:t>
              </a:r>
              <a:endParaRPr lang="en-GB" sz="2000" kern="1200" dirty="0">
                <a:solidFill>
                  <a:schemeClr val="tx1"/>
                </a:solidFill>
              </a:endParaRPr>
            </a:p>
          </p:txBody>
        </p:sp>
        <p:sp>
          <p:nvSpPr>
            <p:cNvPr id="22" name="Freeform 21">
              <a:extLst>
                <a:ext uri="{FF2B5EF4-FFF2-40B4-BE49-F238E27FC236}">
                  <a16:creationId xmlns:a16="http://schemas.microsoft.com/office/drawing/2014/main" id="{6CD737C6-3D43-5DEE-8938-8FCD598EF7DB}"/>
                </a:ext>
              </a:extLst>
            </p:cNvPr>
            <p:cNvSpPr/>
            <p:nvPr/>
          </p:nvSpPr>
          <p:spPr>
            <a:xfrm>
              <a:off x="928915" y="1979877"/>
              <a:ext cx="9622972" cy="1730520"/>
            </a:xfrm>
            <a:custGeom>
              <a:avLst/>
              <a:gdLst>
                <a:gd name="csX0" fmla="*/ 0 w 9622972"/>
                <a:gd name="csY0" fmla="*/ 0 h 1730520"/>
                <a:gd name="csX1" fmla="*/ 9622972 w 9622972"/>
                <a:gd name="csY1" fmla="*/ 0 h 1730520"/>
                <a:gd name="csX2" fmla="*/ 9622972 w 9622972"/>
                <a:gd name="csY2" fmla="*/ 1730520 h 1730520"/>
                <a:gd name="csX3" fmla="*/ 0 w 9622972"/>
                <a:gd name="csY3" fmla="*/ 1730520 h 1730520"/>
                <a:gd name="csX4" fmla="*/ 0 w 9622972"/>
                <a:gd name="csY4" fmla="*/ 0 h 1730520"/>
              </a:gdLst>
              <a:ahLst/>
              <a:cxnLst>
                <a:cxn ang="0">
                  <a:pos x="csX0" y="csY0"/>
                </a:cxn>
                <a:cxn ang="0">
                  <a:pos x="csX1" y="csY1"/>
                </a:cxn>
                <a:cxn ang="0">
                  <a:pos x="csX2" y="csY2"/>
                </a:cxn>
                <a:cxn ang="0">
                  <a:pos x="csX3" y="csY3"/>
                </a:cxn>
                <a:cxn ang="0">
                  <a:pos x="csX4" y="csY4"/>
                </a:cxn>
              </a:cxnLst>
              <a:rect l="l" t="t" r="r" b="b"/>
              <a:pathLst>
                <a:path w="9622972" h="1730520">
                  <a:moveTo>
                    <a:pt x="0" y="0"/>
                  </a:moveTo>
                  <a:lnTo>
                    <a:pt x="9622972" y="0"/>
                  </a:lnTo>
                  <a:lnTo>
                    <a:pt x="9622972" y="1730520"/>
                  </a:lnTo>
                  <a:lnTo>
                    <a:pt x="0" y="1730520"/>
                  </a:lnTo>
                  <a:lnTo>
                    <a:pt x="0" y="0"/>
                  </a:lnTo>
                  <a:close/>
                </a:path>
              </a:pathLst>
            </a:custGeom>
            <a:solidFill>
              <a:schemeClr val="bg1"/>
            </a:solidFill>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05529"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GB" sz="1700" kern="1200" dirty="0"/>
                <a:t>Key factors: age, </a:t>
              </a:r>
              <a:r>
                <a:rPr lang="en-GB" sz="1700" kern="1200" dirty="0">
                  <a:solidFill>
                    <a:schemeClr val="tx1"/>
                  </a:solidFill>
                </a:rPr>
                <a:t>smoking</a:t>
              </a:r>
              <a:r>
                <a:rPr lang="en-GB" sz="1700" kern="1200" dirty="0"/>
                <a:t>, sexual behaviour, contraceptives, STDs</a:t>
              </a:r>
            </a:p>
            <a:p>
              <a:pPr marL="171450" lvl="1" indent="-171450" algn="l" defTabSz="755650">
                <a:lnSpc>
                  <a:spcPct val="90000"/>
                </a:lnSpc>
                <a:spcBef>
                  <a:spcPct val="0"/>
                </a:spcBef>
                <a:spcAft>
                  <a:spcPct val="20000"/>
                </a:spcAft>
                <a:buChar char="•"/>
              </a:pPr>
              <a:r>
                <a:rPr lang="en-GB" sz="1700" kern="1200" dirty="0"/>
                <a:t>Target variable: Biopsy (confirmed diagnosis)</a:t>
              </a:r>
            </a:p>
            <a:p>
              <a:pPr marL="171450" lvl="1" indent="-171450" algn="l" defTabSz="755650">
                <a:lnSpc>
                  <a:spcPct val="90000"/>
                </a:lnSpc>
                <a:spcBef>
                  <a:spcPct val="0"/>
                </a:spcBef>
                <a:spcAft>
                  <a:spcPct val="20000"/>
                </a:spcAft>
                <a:buChar char="•"/>
              </a:pPr>
              <a:r>
                <a:rPr lang="en-GB" sz="1700" b="0" i="0" kern="1200" baseline="0" dirty="0"/>
                <a:t>Type: CSV (tabular data)</a:t>
              </a:r>
              <a:endParaRPr lang="en-GB" sz="1700" kern="1200" dirty="0"/>
            </a:p>
            <a:p>
              <a:pPr marL="171450" lvl="1" indent="-171450" algn="l" defTabSz="755650">
                <a:lnSpc>
                  <a:spcPct val="90000"/>
                </a:lnSpc>
                <a:spcBef>
                  <a:spcPct val="0"/>
                </a:spcBef>
                <a:spcAft>
                  <a:spcPct val="20000"/>
                </a:spcAft>
                <a:buChar char="•"/>
              </a:pPr>
              <a:r>
                <a:rPr lang="en-GB" sz="1700" b="0" i="0" kern="1200" baseline="0" dirty="0"/>
                <a:t>Size: 858 records, 36 features</a:t>
              </a:r>
              <a:endParaRPr lang="en-GB" sz="1700" kern="1200" dirty="0"/>
            </a:p>
            <a:p>
              <a:pPr marL="171450" lvl="1" indent="-171450" algn="l" defTabSz="755650">
                <a:lnSpc>
                  <a:spcPct val="90000"/>
                </a:lnSpc>
                <a:spcBef>
                  <a:spcPct val="0"/>
                </a:spcBef>
                <a:spcAft>
                  <a:spcPct val="20000"/>
                </a:spcAft>
                <a:buChar char="•"/>
              </a:pPr>
              <a:r>
                <a:rPr lang="en-GB" sz="1700" b="0" i="0" kern="1200" baseline="0" dirty="0"/>
                <a:t>Contains behavioural and clinical risk factors</a:t>
              </a:r>
              <a:endParaRPr lang="en-GB" sz="1700" kern="1200" dirty="0"/>
            </a:p>
            <a:p>
              <a:pPr marL="171450" lvl="1" indent="-171450" algn="l" defTabSz="755650">
                <a:lnSpc>
                  <a:spcPct val="90000"/>
                </a:lnSpc>
                <a:spcBef>
                  <a:spcPct val="0"/>
                </a:spcBef>
                <a:spcAft>
                  <a:spcPct val="20000"/>
                </a:spcAft>
                <a:buChar char="•"/>
              </a:pPr>
              <a:r>
                <a:rPr lang="en-GB" sz="1700" b="0" i="0" kern="1200" baseline="0" dirty="0"/>
                <a:t>Link: </a:t>
              </a:r>
              <a:r>
                <a:rPr lang="en-GB" sz="1700" b="0" i="0" kern="1200" baseline="0" dirty="0">
                  <a:hlinkClick r:id="rId3"/>
                </a:rPr>
                <a:t>https://</a:t>
              </a:r>
              <a:r>
                <a:rPr lang="en-GB" sz="1700" b="0" i="0" kern="1200" baseline="0" dirty="0" err="1">
                  <a:hlinkClick r:id="rId3"/>
                </a:rPr>
                <a:t>archive.ics.uci.edu</a:t>
              </a:r>
              <a:r>
                <a:rPr lang="en-GB" sz="1700" b="0" i="0" kern="1200" baseline="0" dirty="0">
                  <a:hlinkClick r:id="rId3"/>
                </a:rPr>
                <a:t>/ml/datasets/</a:t>
              </a:r>
              <a:r>
                <a:rPr lang="en-GB" sz="1700" b="0" i="0" kern="1200" baseline="0" dirty="0" err="1">
                  <a:hlinkClick r:id="rId3"/>
                </a:rPr>
                <a:t>Cervical+Cancer</a:t>
              </a:r>
              <a:r>
                <a:rPr lang="en-GB" sz="1700" b="0" i="0" kern="1200" baseline="0" dirty="0">
                  <a:hlinkClick r:id="rId3"/>
                </a:rPr>
                <a:t>+(</a:t>
              </a:r>
              <a:r>
                <a:rPr lang="en-GB" sz="1700" b="0" i="0" kern="1200" baseline="0" dirty="0" err="1">
                  <a:hlinkClick r:id="rId3"/>
                </a:rPr>
                <a:t>Risk+Factors</a:t>
              </a:r>
              <a:r>
                <a:rPr lang="en-GB" sz="1700" b="0" i="0" kern="1200" baseline="0" dirty="0">
                  <a:hlinkClick r:id="rId3"/>
                </a:rPr>
                <a:t>)</a:t>
              </a:r>
              <a:endParaRPr lang="en-GB" sz="1700" kern="1200" dirty="0"/>
            </a:p>
          </p:txBody>
        </p:sp>
        <p:sp>
          <p:nvSpPr>
            <p:cNvPr id="24" name="Freeform 23">
              <a:extLst>
                <a:ext uri="{FF2B5EF4-FFF2-40B4-BE49-F238E27FC236}">
                  <a16:creationId xmlns:a16="http://schemas.microsoft.com/office/drawing/2014/main" id="{2F8B855C-DDAB-D531-A7C3-C02A3FC46529}"/>
                </a:ext>
              </a:extLst>
            </p:cNvPr>
            <p:cNvSpPr/>
            <p:nvPr/>
          </p:nvSpPr>
          <p:spPr>
            <a:xfrm>
              <a:off x="928915" y="3710397"/>
              <a:ext cx="9622972" cy="785070"/>
            </a:xfrm>
            <a:custGeom>
              <a:avLst/>
              <a:gdLst>
                <a:gd name="csX0" fmla="*/ 0 w 9622972"/>
                <a:gd name="csY0" fmla="*/ 130848 h 785070"/>
                <a:gd name="csX1" fmla="*/ 130848 w 9622972"/>
                <a:gd name="csY1" fmla="*/ 0 h 785070"/>
                <a:gd name="csX2" fmla="*/ 9492124 w 9622972"/>
                <a:gd name="csY2" fmla="*/ 0 h 785070"/>
                <a:gd name="csX3" fmla="*/ 9622972 w 9622972"/>
                <a:gd name="csY3" fmla="*/ 130848 h 785070"/>
                <a:gd name="csX4" fmla="*/ 9622972 w 9622972"/>
                <a:gd name="csY4" fmla="*/ 654222 h 785070"/>
                <a:gd name="csX5" fmla="*/ 9492124 w 9622972"/>
                <a:gd name="csY5" fmla="*/ 785070 h 785070"/>
                <a:gd name="csX6" fmla="*/ 130848 w 9622972"/>
                <a:gd name="csY6" fmla="*/ 785070 h 785070"/>
                <a:gd name="csX7" fmla="*/ 0 w 9622972"/>
                <a:gd name="csY7" fmla="*/ 654222 h 785070"/>
                <a:gd name="csX8" fmla="*/ 0 w 9622972"/>
                <a:gd name="csY8" fmla="*/ 130848 h 7850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622972" h="785070">
                  <a:moveTo>
                    <a:pt x="0" y="130848"/>
                  </a:moveTo>
                  <a:cubicBezTo>
                    <a:pt x="0" y="58583"/>
                    <a:pt x="58583" y="0"/>
                    <a:pt x="130848" y="0"/>
                  </a:cubicBezTo>
                  <a:lnTo>
                    <a:pt x="9492124" y="0"/>
                  </a:lnTo>
                  <a:cubicBezTo>
                    <a:pt x="9564389" y="0"/>
                    <a:pt x="9622972" y="58583"/>
                    <a:pt x="9622972" y="130848"/>
                  </a:cubicBezTo>
                  <a:lnTo>
                    <a:pt x="9622972" y="654222"/>
                  </a:lnTo>
                  <a:cubicBezTo>
                    <a:pt x="9622972" y="726487"/>
                    <a:pt x="9564389" y="785070"/>
                    <a:pt x="9492124" y="785070"/>
                  </a:cubicBezTo>
                  <a:lnTo>
                    <a:pt x="130848" y="785070"/>
                  </a:lnTo>
                  <a:cubicBezTo>
                    <a:pt x="58583" y="785070"/>
                    <a:pt x="0" y="726487"/>
                    <a:pt x="0" y="654222"/>
                  </a:cubicBezTo>
                  <a:lnTo>
                    <a:pt x="0" y="130848"/>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14524" tIns="114524" rIns="114524" bIns="114524"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Global Burden of Disease (GBD) 2023 data from the Institute for Health Metrics and Evaluation (IHME) - </a:t>
              </a:r>
              <a:r>
                <a:rPr lang="en-GB" sz="2000" b="1" kern="1200" dirty="0">
                  <a:solidFill>
                    <a:schemeClr val="tx1"/>
                  </a:solidFill>
                </a:rPr>
                <a:t>(Population-Level Analysis)</a:t>
              </a:r>
              <a:endParaRPr lang="en-GB" sz="2000" kern="1200" dirty="0">
                <a:solidFill>
                  <a:schemeClr val="tx1"/>
                </a:solidFill>
              </a:endParaRPr>
            </a:p>
          </p:txBody>
        </p:sp>
        <p:sp>
          <p:nvSpPr>
            <p:cNvPr id="25" name="Freeform 24">
              <a:extLst>
                <a:ext uri="{FF2B5EF4-FFF2-40B4-BE49-F238E27FC236}">
                  <a16:creationId xmlns:a16="http://schemas.microsoft.com/office/drawing/2014/main" id="{B3ABA2B7-8D78-4851-8B12-E1FDC3C83BA3}"/>
                </a:ext>
              </a:extLst>
            </p:cNvPr>
            <p:cNvSpPr/>
            <p:nvPr/>
          </p:nvSpPr>
          <p:spPr>
            <a:xfrm>
              <a:off x="928915" y="4495467"/>
              <a:ext cx="9622972" cy="1912680"/>
            </a:xfrm>
            <a:custGeom>
              <a:avLst/>
              <a:gdLst>
                <a:gd name="csX0" fmla="*/ 0 w 9622972"/>
                <a:gd name="csY0" fmla="*/ 0 h 1912680"/>
                <a:gd name="csX1" fmla="*/ 9622972 w 9622972"/>
                <a:gd name="csY1" fmla="*/ 0 h 1912680"/>
                <a:gd name="csX2" fmla="*/ 9622972 w 9622972"/>
                <a:gd name="csY2" fmla="*/ 1912680 h 1912680"/>
                <a:gd name="csX3" fmla="*/ 0 w 9622972"/>
                <a:gd name="csY3" fmla="*/ 1912680 h 1912680"/>
                <a:gd name="csX4" fmla="*/ 0 w 9622972"/>
                <a:gd name="csY4" fmla="*/ 0 h 1912680"/>
              </a:gdLst>
              <a:ahLst/>
              <a:cxnLst>
                <a:cxn ang="0">
                  <a:pos x="csX0" y="csY0"/>
                </a:cxn>
                <a:cxn ang="0">
                  <a:pos x="csX1" y="csY1"/>
                </a:cxn>
                <a:cxn ang="0">
                  <a:pos x="csX2" y="csY2"/>
                </a:cxn>
                <a:cxn ang="0">
                  <a:pos x="csX3" y="csY3"/>
                </a:cxn>
                <a:cxn ang="0">
                  <a:pos x="csX4" y="csY4"/>
                </a:cxn>
              </a:cxnLst>
              <a:rect l="l" t="t" r="r" b="b"/>
              <a:pathLst>
                <a:path w="9622972" h="1912680">
                  <a:moveTo>
                    <a:pt x="0" y="0"/>
                  </a:moveTo>
                  <a:lnTo>
                    <a:pt x="9622972" y="0"/>
                  </a:lnTo>
                  <a:lnTo>
                    <a:pt x="9622972" y="1912680"/>
                  </a:lnTo>
                  <a:lnTo>
                    <a:pt x="0" y="191268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05529"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Covers incidence and prevalence of cervical cancer in West Africa</a:t>
              </a:r>
              <a:endParaRPr lang="en-GB" sz="1600" kern="1200" dirty="0"/>
            </a:p>
            <a:p>
              <a:pPr marL="171450" lvl="1" indent="-171450" algn="l" defTabSz="711200">
                <a:lnSpc>
                  <a:spcPct val="90000"/>
                </a:lnSpc>
                <a:spcBef>
                  <a:spcPct val="0"/>
                </a:spcBef>
                <a:spcAft>
                  <a:spcPct val="20000"/>
                </a:spcAft>
                <a:buChar char="•"/>
              </a:pPr>
              <a:r>
                <a:rPr lang="en-US" sz="1600" kern="1200" dirty="0"/>
                <a:t>Includes country, year, age, sex, and rate data</a:t>
              </a:r>
              <a:endParaRPr lang="en-GB" sz="1600" kern="1200" dirty="0"/>
            </a:p>
            <a:p>
              <a:pPr marL="171450" lvl="1" indent="-171450" algn="l" defTabSz="711200">
                <a:lnSpc>
                  <a:spcPct val="90000"/>
                </a:lnSpc>
                <a:spcBef>
                  <a:spcPct val="0"/>
                </a:spcBef>
                <a:spcAft>
                  <a:spcPct val="20000"/>
                </a:spcAft>
                <a:buChar char="•"/>
              </a:pPr>
              <a:r>
                <a:rPr lang="en-US" sz="1600" kern="1200" dirty="0"/>
                <a:t>Supports cross-country burden comparison</a:t>
              </a:r>
              <a:endParaRPr lang="en-GB" sz="1600" kern="1200" dirty="0"/>
            </a:p>
            <a:p>
              <a:pPr marL="171450" lvl="1" indent="-171450" algn="l" defTabSz="711200">
                <a:lnSpc>
                  <a:spcPct val="90000"/>
                </a:lnSpc>
                <a:spcBef>
                  <a:spcPct val="0"/>
                </a:spcBef>
                <a:spcAft>
                  <a:spcPct val="20000"/>
                </a:spcAft>
                <a:buChar char="•"/>
              </a:pPr>
              <a:r>
                <a:rPr lang="en-US" sz="1600" kern="1200" dirty="0"/>
                <a:t>Data type: CSV (tabular epidemiological data)</a:t>
              </a:r>
              <a:endParaRPr lang="en-GB" sz="1600" kern="1200" dirty="0"/>
            </a:p>
            <a:p>
              <a:pPr marL="171450" lvl="1" indent="-171450" algn="l" defTabSz="711200">
                <a:lnSpc>
                  <a:spcPct val="90000"/>
                </a:lnSpc>
                <a:spcBef>
                  <a:spcPct val="0"/>
                </a:spcBef>
                <a:spcAft>
                  <a:spcPct val="20000"/>
                </a:spcAft>
                <a:buChar char="•"/>
              </a:pPr>
              <a:r>
                <a:rPr lang="en-US" sz="1600" kern="1200" dirty="0"/>
                <a:t>Measures used: Cervical cancer incidence and prevalence</a:t>
              </a:r>
              <a:endParaRPr lang="en-GB" sz="1600" kern="1200" dirty="0"/>
            </a:p>
            <a:p>
              <a:pPr marL="171450" lvl="1" indent="-171450" algn="l" defTabSz="711200">
                <a:lnSpc>
                  <a:spcPct val="90000"/>
                </a:lnSpc>
                <a:spcBef>
                  <a:spcPct val="0"/>
                </a:spcBef>
                <a:spcAft>
                  <a:spcPct val="20000"/>
                </a:spcAft>
                <a:buChar char="•"/>
              </a:pPr>
              <a:r>
                <a:rPr lang="en-US" sz="1600" kern="1200" dirty="0"/>
                <a:t>Coverage: West African countries across multiple years</a:t>
              </a:r>
              <a:endParaRPr lang="en-GB" sz="1600" kern="1200" dirty="0"/>
            </a:p>
            <a:p>
              <a:pPr marL="171450" lvl="1" indent="-171450" algn="l" defTabSz="711200">
                <a:lnSpc>
                  <a:spcPct val="90000"/>
                </a:lnSpc>
                <a:spcBef>
                  <a:spcPct val="0"/>
                </a:spcBef>
                <a:spcAft>
                  <a:spcPct val="20000"/>
                </a:spcAft>
                <a:buChar char="•"/>
              </a:pPr>
              <a:r>
                <a:rPr lang="en-US" sz="1600" kern="1200" dirty="0"/>
                <a:t>Link: </a:t>
              </a:r>
              <a:r>
                <a:rPr lang="en-US" sz="1600" kern="1200" dirty="0">
                  <a:hlinkClick r:id="rId4"/>
                </a:rPr>
                <a:t>https://</a:t>
              </a:r>
              <a:r>
                <a:rPr lang="en-US" sz="1600" kern="1200" dirty="0" err="1">
                  <a:hlinkClick r:id="rId4"/>
                </a:rPr>
                <a:t>ghdx.healthdata.org</a:t>
              </a:r>
              <a:r>
                <a:rPr lang="en-US" sz="1600" kern="1200" dirty="0">
                  <a:hlinkClick r:id="rId4"/>
                </a:rPr>
                <a:t>/</a:t>
              </a:r>
              <a:r>
                <a:rPr lang="en-US" sz="1600" kern="1200" dirty="0" err="1">
                  <a:hlinkClick r:id="rId4"/>
                </a:rPr>
                <a:t>gbd</a:t>
              </a:r>
              <a:r>
                <a:rPr lang="en-US" sz="1600" kern="1200" dirty="0">
                  <a:hlinkClick r:id="rId4"/>
                </a:rPr>
                <a:t>-results-tool</a:t>
              </a:r>
              <a:endParaRPr lang="en-GB" sz="1600" kern="1200" dirty="0"/>
            </a:p>
          </p:txBody>
        </p:sp>
      </p:grpSp>
      <p:sp>
        <p:nvSpPr>
          <p:cNvPr id="19" name="Title 1">
            <a:extLst>
              <a:ext uri="{FF2B5EF4-FFF2-40B4-BE49-F238E27FC236}">
                <a16:creationId xmlns:a16="http://schemas.microsoft.com/office/drawing/2014/main" id="{FEB4FC5D-3049-4AAB-C1A1-2CE711E2F879}"/>
              </a:ext>
            </a:extLst>
          </p:cNvPr>
          <p:cNvSpPr>
            <a:spLocks noGrp="1"/>
          </p:cNvSpPr>
          <p:nvPr>
            <p:ph type="title"/>
          </p:nvPr>
        </p:nvSpPr>
        <p:spPr>
          <a:xfrm>
            <a:off x="2798387" y="806954"/>
            <a:ext cx="5884027" cy="457199"/>
          </a:xfrm>
          <a:prstGeom prst="round2SameRect">
            <a:avLst/>
          </a:prstGeo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dirty="0"/>
              <a:t>Dataset description</a:t>
            </a:r>
          </a:p>
        </p:txBody>
      </p:sp>
    </p:spTree>
    <p:extLst>
      <p:ext uri="{BB962C8B-B14F-4D97-AF65-F5344CB8AC3E}">
        <p14:creationId xmlns:p14="http://schemas.microsoft.com/office/powerpoint/2010/main" val="1742861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5859-10C9-4588-9727-B9362E26C29D}"/>
              </a:ext>
            </a:extLst>
          </p:cNvPr>
          <p:cNvSpPr>
            <a:spLocks noGrp="1"/>
          </p:cNvSpPr>
          <p:nvPr>
            <p:ph type="title"/>
          </p:nvPr>
        </p:nvSpPr>
        <p:spPr>
          <a:xfrm>
            <a:off x="3127827" y="1313544"/>
            <a:ext cx="5667829" cy="493483"/>
          </a:xfrm>
          <a:prstGeom prst="snip2SameRect">
            <a:avLst/>
          </a:prstGeo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b="1" dirty="0">
                <a:solidFill>
                  <a:schemeClr val="tx1"/>
                </a:solidFill>
                <a:ea typeface="Georgia" pitchFamily="34" charset="-122"/>
                <a:cs typeface="Georgia" pitchFamily="34" charset="-120"/>
              </a:rPr>
              <a:t>Ethical implications </a:t>
            </a:r>
            <a:endParaRPr lang="en-US" dirty="0">
              <a:solidFill>
                <a:schemeClr val="tx1"/>
              </a:solidFill>
            </a:endParaRPr>
          </a:p>
        </p:txBody>
      </p:sp>
      <p:graphicFrame>
        <p:nvGraphicFramePr>
          <p:cNvPr id="4" name="Content Placeholder 3">
            <a:extLst>
              <a:ext uri="{FF2B5EF4-FFF2-40B4-BE49-F238E27FC236}">
                <a16:creationId xmlns:a16="http://schemas.microsoft.com/office/drawing/2014/main" id="{393B191D-2270-5E23-53DD-CE7E740C6806}"/>
              </a:ext>
            </a:extLst>
          </p:cNvPr>
          <p:cNvGraphicFramePr>
            <a:graphicFrameLocks noGrp="1"/>
          </p:cNvGraphicFramePr>
          <p:nvPr>
            <p:ph idx="1"/>
            <p:extLst>
              <p:ext uri="{D42A27DB-BD31-4B8C-83A1-F6EECF244321}">
                <p14:modId xmlns:p14="http://schemas.microsoft.com/office/powerpoint/2010/main" val="766687655"/>
              </p:ext>
            </p:extLst>
          </p:nvPr>
        </p:nvGraphicFramePr>
        <p:xfrm>
          <a:off x="1784348" y="1926527"/>
          <a:ext cx="8354786" cy="37921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5">
            <a:extLst>
              <a:ext uri="{FF2B5EF4-FFF2-40B4-BE49-F238E27FC236}">
                <a16:creationId xmlns:a16="http://schemas.microsoft.com/office/drawing/2014/main" id="{B02A8827-B1A1-2D2F-D6DD-E886B886C43E}"/>
              </a:ext>
            </a:extLst>
          </p:cNvPr>
          <p:cNvSpPr>
            <a:spLocks noGrp="1"/>
          </p:cNvSpPr>
          <p:nvPr>
            <p:ph type="sldNum" sz="quarter" idx="12"/>
          </p:nvPr>
        </p:nvSpPr>
        <p:spPr>
          <a:xfrm>
            <a:off x="10373350" y="6356349"/>
            <a:ext cx="987552" cy="365125"/>
          </a:xfrm>
        </p:spPr>
        <p:style>
          <a:lnRef idx="2">
            <a:schemeClr val="dk1"/>
          </a:lnRef>
          <a:fillRef idx="1">
            <a:schemeClr val="lt1"/>
          </a:fillRef>
          <a:effectRef idx="0">
            <a:schemeClr val="dk1"/>
          </a:effectRef>
          <a:fontRef idx="minor">
            <a:schemeClr val="dk1"/>
          </a:fontRef>
        </p:style>
        <p:txBody>
          <a:bodyPr/>
          <a:lstStyle/>
          <a:p>
            <a:fld id="{A49DFD55-3C28-40EF-9E31-A92D2E4017FF}" type="slidenum">
              <a:rPr lang="en-US" smtClean="0">
                <a:solidFill>
                  <a:schemeClr val="tx1"/>
                </a:solidFill>
              </a:rPr>
              <a:pPr/>
              <a:t>7</a:t>
            </a:fld>
            <a:endParaRPr lang="en-US" dirty="0">
              <a:solidFill>
                <a:schemeClr val="tx1"/>
              </a:solidFill>
            </a:endParaRPr>
          </a:p>
        </p:txBody>
      </p:sp>
    </p:spTree>
    <p:extLst>
      <p:ext uri="{BB962C8B-B14F-4D97-AF65-F5344CB8AC3E}">
        <p14:creationId xmlns:p14="http://schemas.microsoft.com/office/powerpoint/2010/main" val="1713219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D9B3-B64F-656A-0D99-161A6C0F518F}"/>
              </a:ext>
            </a:extLst>
          </p:cNvPr>
          <p:cNvSpPr>
            <a:spLocks noGrp="1"/>
          </p:cNvSpPr>
          <p:nvPr>
            <p:ph type="title"/>
          </p:nvPr>
        </p:nvSpPr>
        <p:spPr>
          <a:xfrm>
            <a:off x="2939143" y="372861"/>
            <a:ext cx="5493658" cy="490739"/>
          </a:xfrm>
          <a:prstGeom prst="snip2DiagRect">
            <a:avLst/>
          </a:prstGeo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b="1" dirty="0"/>
              <a:t>Exploratory Data Analysis</a:t>
            </a:r>
          </a:p>
        </p:txBody>
      </p:sp>
      <p:sp>
        <p:nvSpPr>
          <p:cNvPr id="68" name="Slide Number Placeholder 67">
            <a:extLst>
              <a:ext uri="{FF2B5EF4-FFF2-40B4-BE49-F238E27FC236}">
                <a16:creationId xmlns:a16="http://schemas.microsoft.com/office/drawing/2014/main" id="{AA0ACADD-CC4E-851C-DA07-C22DB97FA23E}"/>
              </a:ext>
            </a:extLst>
          </p:cNvPr>
          <p:cNvSpPr>
            <a:spLocks noGrp="1"/>
          </p:cNvSpPr>
          <p:nvPr>
            <p:ph type="sldNum" sz="quarter" idx="13"/>
          </p:nvPr>
        </p:nvSpPr>
        <p:spPr>
          <a:xfrm>
            <a:off x="10373350" y="6356349"/>
            <a:ext cx="987552" cy="365125"/>
          </a:xfrm>
        </p:spPr>
        <p:txBody>
          <a:bodyPr/>
          <a:lstStyle/>
          <a:p>
            <a:fld id="{A49DFD55-3C28-40EF-9E31-A92D2E4017FF}" type="slidenum">
              <a:rPr lang="en-US" smtClean="0"/>
              <a:pPr/>
              <a:t>8</a:t>
            </a:fld>
            <a:endParaRPr lang="en-US" dirty="0"/>
          </a:p>
        </p:txBody>
      </p:sp>
      <p:pic>
        <p:nvPicPr>
          <p:cNvPr id="21" name="Picture 20">
            <a:extLst>
              <a:ext uri="{FF2B5EF4-FFF2-40B4-BE49-F238E27FC236}">
                <a16:creationId xmlns:a16="http://schemas.microsoft.com/office/drawing/2014/main" id="{7983306E-39C1-760B-4CD8-A0071536D928}"/>
              </a:ext>
            </a:extLst>
          </p:cNvPr>
          <p:cNvPicPr>
            <a:picLocks noChangeAspect="1"/>
          </p:cNvPicPr>
          <p:nvPr/>
        </p:nvPicPr>
        <p:blipFill>
          <a:blip r:embed="rId3"/>
          <a:stretch>
            <a:fillRect/>
          </a:stretch>
        </p:blipFill>
        <p:spPr>
          <a:xfrm>
            <a:off x="5747674" y="998318"/>
            <a:ext cx="3719592" cy="278969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25" name="Content Placeholder 24">
            <a:extLst>
              <a:ext uri="{FF2B5EF4-FFF2-40B4-BE49-F238E27FC236}">
                <a16:creationId xmlns:a16="http://schemas.microsoft.com/office/drawing/2014/main" id="{FA68EC86-DCE3-242A-9792-E5B8956272DC}"/>
              </a:ext>
            </a:extLst>
          </p:cNvPr>
          <p:cNvPicPr>
            <a:picLocks noGrp="1" noChangeAspect="1"/>
          </p:cNvPicPr>
          <p:nvPr>
            <p:ph sz="half" idx="14"/>
          </p:nvPr>
        </p:nvPicPr>
        <p:blipFill>
          <a:blip r:embed="rId4"/>
          <a:stretch>
            <a:fillRect/>
          </a:stretch>
        </p:blipFill>
        <p:spPr>
          <a:xfrm>
            <a:off x="924980" y="998317"/>
            <a:ext cx="3719592" cy="277175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37" name="TextBox 36">
            <a:extLst>
              <a:ext uri="{FF2B5EF4-FFF2-40B4-BE49-F238E27FC236}">
                <a16:creationId xmlns:a16="http://schemas.microsoft.com/office/drawing/2014/main" id="{95ECCA71-9BEA-A689-DAB9-C41D9DD95963}"/>
              </a:ext>
            </a:extLst>
          </p:cNvPr>
          <p:cNvSpPr txBox="1"/>
          <p:nvPr/>
        </p:nvSpPr>
        <p:spPr>
          <a:xfrm>
            <a:off x="1490191" y="3904785"/>
            <a:ext cx="2589170" cy="461665"/>
          </a:xfrm>
          <a:prstGeom prst="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GB" sz="1200" i="1" dirty="0">
                <a:solidFill>
                  <a:schemeClr val="bg1">
                    <a:lumMod val="50000"/>
                  </a:schemeClr>
                </a:solidFill>
                <a:cs typeface="Arial" panose="020B0604020202020204" pitchFamily="34" charset="0"/>
              </a:rPr>
              <a:t>Figure 1: Age distribution plot. </a:t>
            </a:r>
          </a:p>
          <a:p>
            <a:r>
              <a:rPr lang="en-GB" sz="1200" i="1" dirty="0">
                <a:solidFill>
                  <a:schemeClr val="bg1">
                    <a:lumMod val="50000"/>
                  </a:schemeClr>
                </a:solidFill>
                <a:cs typeface="Arial" panose="020B0604020202020204" pitchFamily="34" charset="0"/>
              </a:rPr>
              <a:t>Majority of patients are aged 20–30</a:t>
            </a:r>
          </a:p>
        </p:txBody>
      </p:sp>
      <p:sp>
        <p:nvSpPr>
          <p:cNvPr id="38" name="TextBox 37">
            <a:extLst>
              <a:ext uri="{FF2B5EF4-FFF2-40B4-BE49-F238E27FC236}">
                <a16:creationId xmlns:a16="http://schemas.microsoft.com/office/drawing/2014/main" id="{39FE01B9-1FE4-C9BD-CA37-C1EF510EE739}"/>
              </a:ext>
            </a:extLst>
          </p:cNvPr>
          <p:cNvSpPr txBox="1"/>
          <p:nvPr/>
        </p:nvSpPr>
        <p:spPr>
          <a:xfrm>
            <a:off x="6309956" y="3843230"/>
            <a:ext cx="2928622" cy="523220"/>
          </a:xfrm>
          <a:prstGeom prst="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GB" sz="1400" i="1" dirty="0">
                <a:solidFill>
                  <a:schemeClr val="bg1">
                    <a:lumMod val="50000"/>
                  </a:schemeClr>
                </a:solidFill>
              </a:rPr>
              <a:t>Figure 2: Biopsy distribution plot.</a:t>
            </a:r>
          </a:p>
          <a:p>
            <a:r>
              <a:rPr lang="en-GB" sz="1400" i="1" dirty="0">
                <a:solidFill>
                  <a:schemeClr val="bg1">
                    <a:lumMod val="50000"/>
                  </a:schemeClr>
                </a:solidFill>
              </a:rPr>
              <a:t>Severe class imbalance (803 vs 55).</a:t>
            </a:r>
          </a:p>
        </p:txBody>
      </p:sp>
      <p:sp>
        <p:nvSpPr>
          <p:cNvPr id="39" name="TextBox 38">
            <a:extLst>
              <a:ext uri="{FF2B5EF4-FFF2-40B4-BE49-F238E27FC236}">
                <a16:creationId xmlns:a16="http://schemas.microsoft.com/office/drawing/2014/main" id="{7084A576-9BE4-EB11-C0D5-D2E4BC3035A5}"/>
              </a:ext>
            </a:extLst>
          </p:cNvPr>
          <p:cNvSpPr txBox="1"/>
          <p:nvPr/>
        </p:nvSpPr>
        <p:spPr>
          <a:xfrm>
            <a:off x="870857" y="4501167"/>
            <a:ext cx="8980411" cy="1938992"/>
          </a:xfrm>
          <a:prstGeom prst="rect">
            <a:avLst/>
          </a:prstGeom>
          <a:noFill/>
        </p:spPr>
        <p:txBody>
          <a:bodyPr wrap="square" rtlCol="0">
            <a:spAutoFit/>
          </a:bodyPr>
          <a:lstStyle/>
          <a:p>
            <a:pPr marL="285750" indent="-285750">
              <a:buFont typeface="Arial" panose="020B0604020202020204" pitchFamily="34" charset="0"/>
              <a:buChar char="•"/>
            </a:pPr>
            <a:r>
              <a:rPr lang="en-GB" sz="2000" dirty="0"/>
              <a:t>Random Oversampling was applied to address the significant class imbalance in the dataset, where 803 instances belonged to the negative class and only 55 to the positive class. </a:t>
            </a:r>
          </a:p>
          <a:p>
            <a:pPr marL="285750" indent="-285750">
              <a:buFont typeface="Arial" panose="020B0604020202020204" pitchFamily="34" charset="0"/>
              <a:buChar char="•"/>
            </a:pPr>
            <a:r>
              <a:rPr lang="en-GB" sz="2000" dirty="0"/>
              <a:t>This technique increases the representation of the minority class by duplicating existing samples, thereby enabling the model to learn patterns associated with cervical cancer more effectively.</a:t>
            </a:r>
          </a:p>
        </p:txBody>
      </p:sp>
    </p:spTree>
    <p:extLst>
      <p:ext uri="{BB962C8B-B14F-4D97-AF65-F5344CB8AC3E}">
        <p14:creationId xmlns:p14="http://schemas.microsoft.com/office/powerpoint/2010/main" val="636929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80FDF51-873D-9DA5-144E-0FC704032E65}"/>
              </a:ext>
            </a:extLst>
          </p:cNvPr>
          <p:cNvPicPr>
            <a:picLocks noChangeAspect="1"/>
          </p:cNvPicPr>
          <p:nvPr/>
        </p:nvPicPr>
        <p:blipFill>
          <a:blip r:embed="rId3"/>
          <a:stretch>
            <a:fillRect/>
          </a:stretch>
        </p:blipFill>
        <p:spPr>
          <a:xfrm>
            <a:off x="193839" y="1365428"/>
            <a:ext cx="5943600" cy="475488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Rectangle 1">
            <a:extLst>
              <a:ext uri="{FF2B5EF4-FFF2-40B4-BE49-F238E27FC236}">
                <a16:creationId xmlns:a16="http://schemas.microsoft.com/office/drawing/2014/main" id="{A008ECEC-1A76-7EAB-115C-FFDAC85D37D4}"/>
              </a:ext>
            </a:extLst>
          </p:cNvPr>
          <p:cNvSpPr>
            <a:spLocks noChangeArrowheads="1"/>
          </p:cNvSpPr>
          <p:nvPr/>
        </p:nvSpPr>
        <p:spPr bwMode="auto">
          <a:xfrm>
            <a:off x="6479104" y="2471580"/>
            <a:ext cx="5421085" cy="1634490"/>
          </a:xfrm>
          <a:prstGeom prst="round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effectLst/>
              </a:rPr>
              <a:t>Strong correlation: Schiller, </a:t>
            </a:r>
            <a:r>
              <a:rPr kumimoji="0" lang="en-US" altLang="en-US" sz="1800" b="1" i="0" u="none" strike="noStrike" cap="none" normalizeH="0" baseline="0" dirty="0" err="1">
                <a:ln>
                  <a:noFill/>
                </a:ln>
                <a:effectLst/>
              </a:rPr>
              <a:t>Hinselmann</a:t>
            </a:r>
            <a:r>
              <a:rPr kumimoji="0" lang="en-US" altLang="en-US" sz="1800" b="1" i="0" u="none" strike="noStrike" cap="none" normalizeH="0" baseline="0" dirty="0">
                <a:ln>
                  <a:noFill/>
                </a:ln>
                <a:effectLst/>
              </a:rPr>
              <a:t> → Biopsy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effectLst/>
              </a:rPr>
              <a:t>Moderate: HPV, prior diagnosis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effectLst/>
              </a:rPr>
              <a:t>Weak: Age, smoking, </a:t>
            </a:r>
            <a:r>
              <a:rPr kumimoji="0" lang="en-US" altLang="en-US" sz="1800" b="1" i="0" u="none" strike="noStrike" cap="none" normalizeH="0" baseline="0" dirty="0" err="1">
                <a:ln>
                  <a:noFill/>
                </a:ln>
                <a:effectLst/>
              </a:rPr>
              <a:t>behavioural</a:t>
            </a:r>
            <a:r>
              <a:rPr kumimoji="0" lang="en-US" altLang="en-US" sz="1800" b="1" i="0" u="none" strike="noStrike" cap="none" normalizeH="0" baseline="0" dirty="0">
                <a:ln>
                  <a:noFill/>
                </a:ln>
                <a:effectLst/>
              </a:rPr>
              <a:t> factors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effectLst/>
            </a:endParaRPr>
          </a:p>
        </p:txBody>
      </p:sp>
      <p:sp>
        <p:nvSpPr>
          <p:cNvPr id="8" name="TextBox 7">
            <a:extLst>
              <a:ext uri="{FF2B5EF4-FFF2-40B4-BE49-F238E27FC236}">
                <a16:creationId xmlns:a16="http://schemas.microsoft.com/office/drawing/2014/main" id="{0CFB7FA4-0B1B-2CB8-610B-562B22D36668}"/>
              </a:ext>
            </a:extLst>
          </p:cNvPr>
          <p:cNvSpPr txBox="1"/>
          <p:nvPr/>
        </p:nvSpPr>
        <p:spPr>
          <a:xfrm>
            <a:off x="7210550" y="1858527"/>
            <a:ext cx="3958192" cy="613053"/>
          </a:xfrm>
          <a:prstGeom prst="round2SameRect">
            <a:avLst/>
          </a:prstGeom>
          <a:solidFill>
            <a:schemeClr val="bg1"/>
          </a:solidFill>
          <a:ln>
            <a:solidFill>
              <a:schemeClr val="bg1">
                <a:lumMod val="50000"/>
              </a:schemeClr>
            </a:solidFill>
          </a:ln>
        </p:spPr>
        <p:txBody>
          <a:bodyPr wrap="square" rtlCol="0">
            <a:spAutoFit/>
          </a:bodyPr>
          <a:lstStyle/>
          <a:p>
            <a:r>
              <a:rPr lang="en-GB" sz="1600" i="1" dirty="0">
                <a:solidFill>
                  <a:schemeClr val="bg1">
                    <a:lumMod val="50000"/>
                  </a:schemeClr>
                </a:solidFill>
              </a:rPr>
              <a:t>Figure 3: Correlation Matrix of Features with Positive Correlation to Biopsy</a:t>
            </a:r>
          </a:p>
        </p:txBody>
      </p:sp>
      <p:sp>
        <p:nvSpPr>
          <p:cNvPr id="2" name="Title 1">
            <a:extLst>
              <a:ext uri="{FF2B5EF4-FFF2-40B4-BE49-F238E27FC236}">
                <a16:creationId xmlns:a16="http://schemas.microsoft.com/office/drawing/2014/main" id="{5975DB50-EB78-5752-6434-F65FE121F060}"/>
              </a:ext>
            </a:extLst>
          </p:cNvPr>
          <p:cNvSpPr txBox="1">
            <a:spLocks/>
          </p:cNvSpPr>
          <p:nvPr/>
        </p:nvSpPr>
        <p:spPr>
          <a:xfrm>
            <a:off x="3009481" y="568162"/>
            <a:ext cx="5493658" cy="490739"/>
          </a:xfrm>
          <a:prstGeom prst="snip2Diag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5000" lnSpcReduction="20000"/>
          </a:bodyPr>
          <a:lstStyle>
            <a:lvl1pPr algn="l" defTabSz="914400" rtl="0" eaLnBrk="1" latinLnBrk="0" hangingPunct="1">
              <a:lnSpc>
                <a:spcPct val="90000"/>
              </a:lnSpc>
              <a:spcBef>
                <a:spcPct val="0"/>
              </a:spcBef>
              <a:buNone/>
              <a:defRPr sz="3600" kern="1200" cap="all" spc="150" baseline="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b="1" dirty="0">
                <a:solidFill>
                  <a:schemeClr val="tx1"/>
                </a:solidFill>
              </a:rPr>
              <a:t>Exploratory Data Analysis</a:t>
            </a:r>
          </a:p>
        </p:txBody>
      </p:sp>
      <p:sp>
        <p:nvSpPr>
          <p:cNvPr id="4" name="Slide Number Placeholder 5">
            <a:extLst>
              <a:ext uri="{FF2B5EF4-FFF2-40B4-BE49-F238E27FC236}">
                <a16:creationId xmlns:a16="http://schemas.microsoft.com/office/drawing/2014/main" id="{6F2D2C8D-E085-F4F5-9E22-D0BA619D02FF}"/>
              </a:ext>
            </a:extLst>
          </p:cNvPr>
          <p:cNvSpPr>
            <a:spLocks noGrp="1"/>
          </p:cNvSpPr>
          <p:nvPr/>
        </p:nvSpPr>
        <p:spPr>
          <a:xfrm>
            <a:off x="10652526" y="6269678"/>
            <a:ext cx="987552"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9</a:t>
            </a:r>
          </a:p>
        </p:txBody>
      </p:sp>
    </p:spTree>
    <p:extLst>
      <p:ext uri="{BB962C8B-B14F-4D97-AF65-F5344CB8AC3E}">
        <p14:creationId xmlns:p14="http://schemas.microsoft.com/office/powerpoint/2010/main" val="334696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21055C-5E33-5D21-2A6E-21827FA88ED3}"/>
              </a:ext>
            </a:extLst>
          </p:cNvPr>
          <p:cNvSpPr>
            <a:spLocks noGrp="1"/>
          </p:cNvSpPr>
          <p:nvPr>
            <p:ph type="title"/>
          </p:nvPr>
        </p:nvSpPr>
        <p:spPr>
          <a:xfrm>
            <a:off x="3468957" y="472666"/>
            <a:ext cx="5040086" cy="625794"/>
          </a:xfrm>
          <a:prstGeom prst="round2SameRect">
            <a:avLst/>
          </a:prstGeom>
        </p:spPr>
        <p:style>
          <a:lnRef idx="2">
            <a:schemeClr val="dk1"/>
          </a:lnRef>
          <a:fillRef idx="1">
            <a:schemeClr val="lt1"/>
          </a:fillRef>
          <a:effectRef idx="0">
            <a:schemeClr val="dk1"/>
          </a:effectRef>
          <a:fontRef idx="minor">
            <a:schemeClr val="dk1"/>
          </a:fontRef>
        </p:style>
        <p:txBody>
          <a:bodyPr>
            <a:normAutofit/>
          </a:bodyPr>
          <a:lstStyle/>
          <a:p>
            <a:pPr algn="ctr"/>
            <a:r>
              <a:rPr lang="en-US" sz="2800" b="1" dirty="0"/>
              <a:t>Pre-processing</a:t>
            </a:r>
          </a:p>
        </p:txBody>
      </p:sp>
      <p:sp>
        <p:nvSpPr>
          <p:cNvPr id="6" name="Text Placeholder 5">
            <a:extLst>
              <a:ext uri="{FF2B5EF4-FFF2-40B4-BE49-F238E27FC236}">
                <a16:creationId xmlns:a16="http://schemas.microsoft.com/office/drawing/2014/main" id="{B587B122-1579-FDB8-443B-F05E622163C3}"/>
              </a:ext>
            </a:extLst>
          </p:cNvPr>
          <p:cNvSpPr>
            <a:spLocks noGrp="1"/>
          </p:cNvSpPr>
          <p:nvPr>
            <p:ph sz="half" idx="16"/>
          </p:nvPr>
        </p:nvSpPr>
        <p:spPr>
          <a:xfrm>
            <a:off x="926254" y="1437531"/>
            <a:ext cx="3744220" cy="5025354"/>
          </a:xfrm>
          <a:prstGeom prst="roundRect">
            <a:avLst/>
          </a:prstGeom>
        </p:spPr>
        <p:style>
          <a:lnRef idx="2">
            <a:schemeClr val="dk1"/>
          </a:lnRef>
          <a:fillRef idx="1">
            <a:schemeClr val="lt1"/>
          </a:fillRef>
          <a:effectRef idx="0">
            <a:schemeClr val="dk1"/>
          </a:effectRef>
          <a:fontRef idx="minor">
            <a:schemeClr val="dk1"/>
          </a:fontRef>
        </p:style>
        <p:txBody>
          <a:bodyPr>
            <a:normAutofit/>
          </a:bodyPr>
          <a:lstStyle/>
          <a:p>
            <a:pPr marL="342900" indent="-342900">
              <a:buFont typeface="Wingdings" panose="05000000000000000000" pitchFamily="2" charset="2"/>
              <a:buChar char="Ø"/>
            </a:pPr>
            <a:r>
              <a:rPr lang="en-US" sz="2000" dirty="0"/>
              <a:t>Missing values handled using median imputation to reduce the impact of outliers.</a:t>
            </a:r>
          </a:p>
          <a:p>
            <a:pPr marL="342900" indent="-342900">
              <a:buFont typeface="Wingdings" panose="05000000000000000000" pitchFamily="2" charset="2"/>
              <a:buChar char="Ø"/>
            </a:pPr>
            <a:r>
              <a:rPr lang="en-US" sz="2000" dirty="0"/>
              <a:t>Feature scaling applied using </a:t>
            </a:r>
            <a:r>
              <a:rPr lang="en-US" sz="2000" dirty="0" err="1"/>
              <a:t>StandardScaler</a:t>
            </a:r>
            <a:r>
              <a:rPr lang="en-US" sz="2000" dirty="0"/>
              <a:t> for model consistency.</a:t>
            </a:r>
          </a:p>
          <a:p>
            <a:pPr marL="342900" indent="-342900">
              <a:buFont typeface="Wingdings" panose="05000000000000000000" pitchFamily="2" charset="2"/>
              <a:buChar char="Ø"/>
            </a:pPr>
            <a:r>
              <a:rPr lang="en-US" sz="2000" dirty="0"/>
              <a:t>Train-test split performed (e.g., 80% training, 20% testing).</a:t>
            </a:r>
          </a:p>
          <a:p>
            <a:pPr marL="342900" indent="-342900">
              <a:buFont typeface="Wingdings" panose="05000000000000000000" pitchFamily="2" charset="2"/>
              <a:buChar char="Ø"/>
            </a:pPr>
            <a:r>
              <a:rPr lang="en-US" sz="2000" dirty="0"/>
              <a:t>Class imbalance addressed using Random Oversampling.</a:t>
            </a:r>
          </a:p>
        </p:txBody>
      </p:sp>
      <p:sp>
        <p:nvSpPr>
          <p:cNvPr id="5" name="Slide Number Placeholder 4">
            <a:extLst>
              <a:ext uri="{FF2B5EF4-FFF2-40B4-BE49-F238E27FC236}">
                <a16:creationId xmlns:a16="http://schemas.microsoft.com/office/drawing/2014/main" id="{E74B0ADB-527F-A58C-9372-D8502ED6F918}"/>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10</a:t>
            </a:fld>
            <a:endParaRPr lang="en-US" dirty="0"/>
          </a:p>
        </p:txBody>
      </p:sp>
      <p:pic>
        <p:nvPicPr>
          <p:cNvPr id="12" name="Picture 11">
            <a:extLst>
              <a:ext uri="{FF2B5EF4-FFF2-40B4-BE49-F238E27FC236}">
                <a16:creationId xmlns:a16="http://schemas.microsoft.com/office/drawing/2014/main" id="{1A0181F5-7299-6B5F-12D2-662DC17BD141}"/>
              </a:ext>
            </a:extLst>
          </p:cNvPr>
          <p:cNvPicPr>
            <a:picLocks noChangeAspect="1"/>
          </p:cNvPicPr>
          <p:nvPr/>
        </p:nvPicPr>
        <p:blipFill>
          <a:blip r:embed="rId3"/>
          <a:stretch>
            <a:fillRect/>
          </a:stretch>
        </p:blipFill>
        <p:spPr>
          <a:xfrm>
            <a:off x="5060852" y="2659376"/>
            <a:ext cx="6204894" cy="1064866"/>
          </a:xfrm>
          <a:prstGeom prst="rect">
            <a:avLst/>
          </a:prstGeom>
          <a:ln>
            <a:solidFill>
              <a:schemeClr val="tx1"/>
            </a:solidFill>
          </a:ln>
        </p:spPr>
      </p:pic>
      <p:pic>
        <p:nvPicPr>
          <p:cNvPr id="14" name="Picture 13">
            <a:extLst>
              <a:ext uri="{FF2B5EF4-FFF2-40B4-BE49-F238E27FC236}">
                <a16:creationId xmlns:a16="http://schemas.microsoft.com/office/drawing/2014/main" id="{175222B3-7CDB-E76E-BCBE-B21F6FF206DC}"/>
              </a:ext>
            </a:extLst>
          </p:cNvPr>
          <p:cNvPicPr>
            <a:picLocks noChangeAspect="1"/>
          </p:cNvPicPr>
          <p:nvPr/>
        </p:nvPicPr>
        <p:blipFill>
          <a:blip r:embed="rId4"/>
          <a:stretch>
            <a:fillRect/>
          </a:stretch>
        </p:blipFill>
        <p:spPr>
          <a:xfrm>
            <a:off x="5060852" y="3989537"/>
            <a:ext cx="5018211" cy="828791"/>
          </a:xfrm>
          <a:prstGeom prst="rect">
            <a:avLst/>
          </a:prstGeom>
          <a:ln>
            <a:solidFill>
              <a:schemeClr val="tx1"/>
            </a:solidFill>
          </a:ln>
        </p:spPr>
      </p:pic>
      <p:pic>
        <p:nvPicPr>
          <p:cNvPr id="16" name="Picture 15">
            <a:extLst>
              <a:ext uri="{FF2B5EF4-FFF2-40B4-BE49-F238E27FC236}">
                <a16:creationId xmlns:a16="http://schemas.microsoft.com/office/drawing/2014/main" id="{790317FA-D42F-CF4B-AA13-4399F8C842A2}"/>
              </a:ext>
            </a:extLst>
          </p:cNvPr>
          <p:cNvPicPr>
            <a:picLocks noChangeAspect="1"/>
          </p:cNvPicPr>
          <p:nvPr/>
        </p:nvPicPr>
        <p:blipFill>
          <a:blip r:embed="rId5"/>
          <a:stretch>
            <a:fillRect/>
          </a:stretch>
        </p:blipFill>
        <p:spPr>
          <a:xfrm>
            <a:off x="5060852" y="5167849"/>
            <a:ext cx="5893191" cy="942911"/>
          </a:xfrm>
          <a:prstGeom prst="rect">
            <a:avLst/>
          </a:prstGeom>
          <a:ln>
            <a:solidFill>
              <a:schemeClr val="tx1"/>
            </a:solidFill>
          </a:ln>
        </p:spPr>
      </p:pic>
      <p:pic>
        <p:nvPicPr>
          <p:cNvPr id="4" name="Picture 3">
            <a:extLst>
              <a:ext uri="{FF2B5EF4-FFF2-40B4-BE49-F238E27FC236}">
                <a16:creationId xmlns:a16="http://schemas.microsoft.com/office/drawing/2014/main" id="{C3B95CBD-3B65-0B92-0200-445C4385A724}"/>
              </a:ext>
            </a:extLst>
          </p:cNvPr>
          <p:cNvPicPr>
            <a:picLocks noChangeAspect="1"/>
          </p:cNvPicPr>
          <p:nvPr/>
        </p:nvPicPr>
        <p:blipFill>
          <a:blip r:embed="rId6"/>
          <a:stretch>
            <a:fillRect/>
          </a:stretch>
        </p:blipFill>
        <p:spPr>
          <a:xfrm>
            <a:off x="5060852" y="1787642"/>
            <a:ext cx="3877216" cy="752580"/>
          </a:xfrm>
          <a:prstGeom prst="rect">
            <a:avLst/>
          </a:prstGeom>
          <a:ln>
            <a:solidFill>
              <a:schemeClr val="tx1"/>
            </a:solidFill>
          </a:ln>
        </p:spPr>
      </p:pic>
    </p:spTree>
    <p:extLst>
      <p:ext uri="{BB962C8B-B14F-4D97-AF65-F5344CB8AC3E}">
        <p14:creationId xmlns:p14="http://schemas.microsoft.com/office/powerpoint/2010/main" val="1658164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89849-7FA3-A2AD-713C-44336E66895A}"/>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CFC3D735-60DF-39D9-97B6-2E5D1873AFBA}"/>
              </a:ext>
            </a:extLst>
          </p:cNvPr>
          <p:cNvSpPr>
            <a:spLocks noGrp="1"/>
          </p:cNvSpPr>
          <p:nvPr>
            <p:ph type="title"/>
          </p:nvPr>
        </p:nvSpPr>
        <p:spPr>
          <a:xfrm>
            <a:off x="2591622" y="360536"/>
            <a:ext cx="6313226" cy="652338"/>
          </a:xfrm>
          <a:prstGeom prst="round2DiagRect">
            <a:avLst/>
          </a:prstGeom>
        </p:spPr>
        <p:style>
          <a:lnRef idx="2">
            <a:schemeClr val="dk1"/>
          </a:lnRef>
          <a:fillRef idx="1">
            <a:schemeClr val="lt1"/>
          </a:fillRef>
          <a:effectRef idx="0">
            <a:schemeClr val="dk1"/>
          </a:effectRef>
          <a:fontRef idx="minor">
            <a:schemeClr val="dk1"/>
          </a:fontRef>
        </p:style>
        <p:txBody>
          <a:bodyPr anchor="b">
            <a:normAutofit/>
          </a:bodyPr>
          <a:lstStyle/>
          <a:p>
            <a:pPr algn="ctr"/>
            <a:r>
              <a:rPr lang="en-US" b="1" dirty="0"/>
              <a:t>MODELS USED</a:t>
            </a:r>
          </a:p>
        </p:txBody>
      </p:sp>
      <p:sp>
        <p:nvSpPr>
          <p:cNvPr id="9" name="Slide Number Placeholder 8">
            <a:extLst>
              <a:ext uri="{FF2B5EF4-FFF2-40B4-BE49-F238E27FC236}">
                <a16:creationId xmlns:a16="http://schemas.microsoft.com/office/drawing/2014/main" id="{A30B3FEB-FDCD-6997-45C3-0CFF17C6427C}"/>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11</a:t>
            </a:fld>
            <a:endParaRPr lang="en-US" dirty="0"/>
          </a:p>
        </p:txBody>
      </p:sp>
      <p:sp>
        <p:nvSpPr>
          <p:cNvPr id="3" name="TextBox 2">
            <a:extLst>
              <a:ext uri="{FF2B5EF4-FFF2-40B4-BE49-F238E27FC236}">
                <a16:creationId xmlns:a16="http://schemas.microsoft.com/office/drawing/2014/main" id="{663C83B8-7E86-0F41-AB47-F0FA2394C356}"/>
              </a:ext>
            </a:extLst>
          </p:cNvPr>
          <p:cNvSpPr txBox="1"/>
          <p:nvPr/>
        </p:nvSpPr>
        <p:spPr>
          <a:xfrm>
            <a:off x="545654" y="1350724"/>
            <a:ext cx="6942472" cy="5005626"/>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dirty="0"/>
              <a:t>Logistic Regression</a:t>
            </a:r>
          </a:p>
          <a:p>
            <a:pPr>
              <a:buFont typeface="Arial" panose="020B0604020202020204" pitchFamily="34" charset="0"/>
              <a:buChar char="•"/>
            </a:pPr>
            <a:r>
              <a:rPr lang="en-US" dirty="0"/>
              <a:t>A linear model used for binary classification </a:t>
            </a:r>
          </a:p>
          <a:p>
            <a:pPr>
              <a:buFont typeface="Arial" panose="020B0604020202020204" pitchFamily="34" charset="0"/>
              <a:buChar char="•"/>
            </a:pPr>
            <a:r>
              <a:rPr lang="en-US" dirty="0"/>
              <a:t>Estimates the probability of an outcome using a logistic (sigmoid) function.</a:t>
            </a:r>
          </a:p>
          <a:p>
            <a:pPr>
              <a:buFont typeface="Arial" panose="020B0604020202020204" pitchFamily="34" charset="0"/>
              <a:buChar char="•"/>
            </a:pPr>
            <a:r>
              <a:rPr lang="en-US" dirty="0"/>
              <a:t>Simple, fast, and highly interpretable.</a:t>
            </a:r>
          </a:p>
          <a:p>
            <a:pPr>
              <a:buNone/>
            </a:pPr>
            <a:br>
              <a:rPr lang="en-US" dirty="0"/>
            </a:br>
            <a:r>
              <a:rPr lang="en-US" dirty="0"/>
              <a:t>Random Forest</a:t>
            </a:r>
          </a:p>
          <a:p>
            <a:pPr>
              <a:buFont typeface="Arial" panose="020B0604020202020204" pitchFamily="34" charset="0"/>
              <a:buChar char="•"/>
            </a:pPr>
            <a:r>
              <a:rPr lang="en-US" dirty="0"/>
              <a:t>An ensemble method combining multiple decision trees </a:t>
            </a:r>
          </a:p>
          <a:p>
            <a:pPr>
              <a:buFont typeface="Arial" panose="020B0604020202020204" pitchFamily="34" charset="0"/>
              <a:buChar char="•"/>
            </a:pPr>
            <a:r>
              <a:rPr lang="en-US" dirty="0"/>
              <a:t>Uses bagging to reduce overfitting. </a:t>
            </a:r>
          </a:p>
          <a:p>
            <a:pPr>
              <a:buFont typeface="Arial" panose="020B0604020202020204" pitchFamily="34" charset="0"/>
              <a:buChar char="•"/>
            </a:pPr>
            <a:r>
              <a:rPr lang="en-US" dirty="0"/>
              <a:t>Captures non-linear relationships and provides feature importance. </a:t>
            </a:r>
          </a:p>
          <a:p>
            <a:pPr>
              <a:buNone/>
            </a:pPr>
            <a:endParaRPr lang="en-US" dirty="0"/>
          </a:p>
          <a:p>
            <a:pPr>
              <a:buNone/>
            </a:pPr>
            <a:r>
              <a:rPr lang="en-US" dirty="0"/>
              <a:t> </a:t>
            </a:r>
            <a:r>
              <a:rPr lang="en-US" dirty="0" err="1"/>
              <a:t>XGBoost</a:t>
            </a:r>
            <a:endParaRPr lang="en-US" dirty="0"/>
          </a:p>
          <a:p>
            <a:pPr>
              <a:buFont typeface="Arial" panose="020B0604020202020204" pitchFamily="34" charset="0"/>
              <a:buChar char="•"/>
            </a:pPr>
            <a:r>
              <a:rPr lang="en-US" dirty="0"/>
              <a:t>An advanced gradient boosting algorithm. </a:t>
            </a:r>
          </a:p>
          <a:p>
            <a:pPr>
              <a:buFont typeface="Arial" panose="020B0604020202020204" pitchFamily="34" charset="0"/>
              <a:buChar char="•"/>
            </a:pPr>
            <a:r>
              <a:rPr lang="en-US" dirty="0"/>
              <a:t>Builds trees sequentially to correct previous errors. </a:t>
            </a:r>
          </a:p>
          <a:p>
            <a:pPr>
              <a:buFont typeface="Arial" panose="020B0604020202020204" pitchFamily="34" charset="0"/>
              <a:buChar char="•"/>
            </a:pPr>
            <a:r>
              <a:rPr lang="en-US" dirty="0"/>
              <a:t>High performance and handles complex patterns effectively. </a:t>
            </a:r>
          </a:p>
        </p:txBody>
      </p:sp>
      <p:pic>
        <p:nvPicPr>
          <p:cNvPr id="11" name="Picture 10">
            <a:extLst>
              <a:ext uri="{FF2B5EF4-FFF2-40B4-BE49-F238E27FC236}">
                <a16:creationId xmlns:a16="http://schemas.microsoft.com/office/drawing/2014/main" id="{88866508-86AA-8BF8-3F44-1B6F4FAE7B63}"/>
              </a:ext>
            </a:extLst>
          </p:cNvPr>
          <p:cNvPicPr>
            <a:picLocks noChangeAspect="1"/>
          </p:cNvPicPr>
          <p:nvPr/>
        </p:nvPicPr>
        <p:blipFill>
          <a:blip r:embed="rId3"/>
          <a:stretch>
            <a:fillRect/>
          </a:stretch>
        </p:blipFill>
        <p:spPr>
          <a:xfrm>
            <a:off x="7862282" y="3094139"/>
            <a:ext cx="3428273" cy="1249415"/>
          </a:xfrm>
          <a:prstGeom prst="rect">
            <a:avLst/>
          </a:prstGeom>
          <a:ln>
            <a:solidFill>
              <a:schemeClr val="tx1"/>
            </a:solidFill>
          </a:ln>
        </p:spPr>
      </p:pic>
      <p:pic>
        <p:nvPicPr>
          <p:cNvPr id="14" name="Picture 13">
            <a:extLst>
              <a:ext uri="{FF2B5EF4-FFF2-40B4-BE49-F238E27FC236}">
                <a16:creationId xmlns:a16="http://schemas.microsoft.com/office/drawing/2014/main" id="{E50FD83A-29EA-4C7D-2ED0-2B1F4F392EEF}"/>
              </a:ext>
            </a:extLst>
          </p:cNvPr>
          <p:cNvPicPr>
            <a:picLocks noChangeAspect="1"/>
          </p:cNvPicPr>
          <p:nvPr/>
        </p:nvPicPr>
        <p:blipFill>
          <a:blip r:embed="rId4"/>
          <a:stretch>
            <a:fillRect/>
          </a:stretch>
        </p:blipFill>
        <p:spPr>
          <a:xfrm>
            <a:off x="7862283" y="4543419"/>
            <a:ext cx="3428273" cy="1790773"/>
          </a:xfrm>
          <a:prstGeom prst="rect">
            <a:avLst/>
          </a:prstGeom>
          <a:ln>
            <a:solidFill>
              <a:schemeClr val="tx1"/>
            </a:solidFill>
          </a:ln>
        </p:spPr>
      </p:pic>
      <p:pic>
        <p:nvPicPr>
          <p:cNvPr id="8" name="Picture 7">
            <a:extLst>
              <a:ext uri="{FF2B5EF4-FFF2-40B4-BE49-F238E27FC236}">
                <a16:creationId xmlns:a16="http://schemas.microsoft.com/office/drawing/2014/main" id="{29D48B95-C4BE-125C-59AE-C98086BC5BB6}"/>
              </a:ext>
            </a:extLst>
          </p:cNvPr>
          <p:cNvPicPr>
            <a:picLocks noChangeAspect="1"/>
          </p:cNvPicPr>
          <p:nvPr/>
        </p:nvPicPr>
        <p:blipFill>
          <a:blip r:embed="rId5"/>
          <a:stretch>
            <a:fillRect/>
          </a:stretch>
        </p:blipFill>
        <p:spPr>
          <a:xfrm>
            <a:off x="7862285" y="1589650"/>
            <a:ext cx="3459464" cy="1051406"/>
          </a:xfrm>
          <a:prstGeom prst="rect">
            <a:avLst/>
          </a:prstGeom>
          <a:ln>
            <a:solidFill>
              <a:schemeClr val="tx1"/>
            </a:solidFill>
          </a:ln>
        </p:spPr>
      </p:pic>
    </p:spTree>
    <p:extLst>
      <p:ext uri="{BB962C8B-B14F-4D97-AF65-F5344CB8AC3E}">
        <p14:creationId xmlns:p14="http://schemas.microsoft.com/office/powerpoint/2010/main" val="1558177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1EDE-5423-435C-B149-87AB1BC22B83}"/>
              </a:ext>
            </a:extLst>
          </p:cNvPr>
          <p:cNvSpPr>
            <a:spLocks noGrp="1"/>
          </p:cNvSpPr>
          <p:nvPr>
            <p:ph type="ctrTitle"/>
          </p:nvPr>
        </p:nvSpPr>
        <p:spPr>
          <a:xfrm>
            <a:off x="2902630" y="243314"/>
            <a:ext cx="7310511" cy="607004"/>
          </a:xfrm>
          <a:prstGeom prst="snip2DiagRect">
            <a:avLst/>
          </a:prstGeom>
        </p:spPr>
        <p:style>
          <a:lnRef idx="2">
            <a:schemeClr val="dk1"/>
          </a:lnRef>
          <a:fillRef idx="1">
            <a:schemeClr val="lt1"/>
          </a:fillRef>
          <a:effectRef idx="0">
            <a:schemeClr val="dk1"/>
          </a:effectRef>
          <a:fontRef idx="minor">
            <a:schemeClr val="dk1"/>
          </a:fontRef>
        </p:style>
        <p:txBody>
          <a:bodyPr/>
          <a:lstStyle/>
          <a:p>
            <a:pPr algn="ctr"/>
            <a:r>
              <a:rPr lang="en-US" b="1" dirty="0">
                <a:solidFill>
                  <a:schemeClr val="tx1"/>
                </a:solidFill>
              </a:rPr>
              <a:t>Hyperparameter</a:t>
            </a:r>
            <a:r>
              <a:rPr lang="en-US" dirty="0">
                <a:solidFill>
                  <a:schemeClr val="tx1"/>
                </a:solidFill>
              </a:rPr>
              <a:t> </a:t>
            </a:r>
            <a:r>
              <a:rPr lang="en-US" b="1" dirty="0">
                <a:solidFill>
                  <a:schemeClr val="tx1"/>
                </a:solidFill>
              </a:rPr>
              <a:t>tuning</a:t>
            </a:r>
          </a:p>
        </p:txBody>
      </p:sp>
      <p:sp>
        <p:nvSpPr>
          <p:cNvPr id="6" name="Slide Number Placeholder 5">
            <a:extLst>
              <a:ext uri="{FF2B5EF4-FFF2-40B4-BE49-F238E27FC236}">
                <a16:creationId xmlns:a16="http://schemas.microsoft.com/office/drawing/2014/main" id="{4C127D99-645F-4FCF-9573-FDFE2A344FA9}"/>
              </a:ext>
            </a:extLst>
          </p:cNvPr>
          <p:cNvSpPr>
            <a:spLocks noGrp="1"/>
          </p:cNvSpPr>
          <p:nvPr>
            <p:ph type="sldNum" sz="quarter" idx="12"/>
          </p:nvPr>
        </p:nvSpPr>
        <p:spPr>
          <a:xfrm>
            <a:off x="9579428" y="6356350"/>
            <a:ext cx="1774371" cy="365125"/>
          </a:xfrm>
        </p:spPr>
        <p:txBody>
          <a:bodyPr/>
          <a:lstStyle/>
          <a:p>
            <a:fld id="{A49DFD55-3C28-40EF-9E31-A92D2E4017FF}" type="slidenum">
              <a:rPr lang="en-US" smtClean="0"/>
              <a:pPr/>
              <a:t>12</a:t>
            </a:fld>
            <a:endParaRPr lang="en-US" dirty="0"/>
          </a:p>
        </p:txBody>
      </p:sp>
      <p:sp>
        <p:nvSpPr>
          <p:cNvPr id="10" name="TextBox 9">
            <a:extLst>
              <a:ext uri="{FF2B5EF4-FFF2-40B4-BE49-F238E27FC236}">
                <a16:creationId xmlns:a16="http://schemas.microsoft.com/office/drawing/2014/main" id="{602EC1CD-F427-2066-C1C6-E445E5B51232}"/>
              </a:ext>
            </a:extLst>
          </p:cNvPr>
          <p:cNvSpPr txBox="1"/>
          <p:nvPr/>
        </p:nvSpPr>
        <p:spPr>
          <a:xfrm>
            <a:off x="352790" y="1304879"/>
            <a:ext cx="5954226" cy="4597003"/>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marL="457200" indent="-457200">
              <a:buFont typeface="Wingdings" panose="05000000000000000000" pitchFamily="2" charset="2"/>
              <a:buChar char="Ø"/>
            </a:pPr>
            <a:r>
              <a:rPr lang="en-US" sz="2400" dirty="0" err="1"/>
              <a:t>GridSearchCV</a:t>
            </a:r>
            <a:r>
              <a:rPr lang="en-US" sz="2400" dirty="0"/>
              <a:t> with 3-fold cross-validation was used. </a:t>
            </a:r>
          </a:p>
          <a:p>
            <a:pPr marL="457200" indent="-457200">
              <a:buFont typeface="Wingdings" panose="05000000000000000000" pitchFamily="2" charset="2"/>
              <a:buChar char="Ø"/>
            </a:pPr>
            <a:r>
              <a:rPr lang="en-US" sz="2400" dirty="0"/>
              <a:t>Recall was </a:t>
            </a:r>
            <a:r>
              <a:rPr lang="en-US" sz="2400" dirty="0" err="1"/>
              <a:t>optimised</a:t>
            </a:r>
            <a:r>
              <a:rPr lang="en-US" sz="2400" dirty="0"/>
              <a:t> to improve cancer detection. </a:t>
            </a:r>
          </a:p>
          <a:p>
            <a:pPr marL="457200" indent="-457200">
              <a:buFont typeface="Wingdings" panose="05000000000000000000" pitchFamily="2" charset="2"/>
              <a:buChar char="Ø"/>
            </a:pPr>
            <a:r>
              <a:rPr lang="en-US" sz="2400" dirty="0" err="1"/>
              <a:t>XGBoost</a:t>
            </a:r>
            <a:r>
              <a:rPr lang="en-US" sz="2400" dirty="0"/>
              <a:t> tuned tree depth, estimators, and learning rate. </a:t>
            </a:r>
          </a:p>
          <a:p>
            <a:pPr marL="457200" indent="-457200">
              <a:buFont typeface="Wingdings" panose="05000000000000000000" pitchFamily="2" charset="2"/>
              <a:buChar char="Ø"/>
            </a:pPr>
            <a:r>
              <a:rPr lang="en-US" sz="2400" dirty="0"/>
              <a:t>Random Forest tuned tree structure and used class weighting. </a:t>
            </a:r>
          </a:p>
          <a:p>
            <a:pPr marL="457200" indent="-457200">
              <a:buFont typeface="Wingdings" panose="05000000000000000000" pitchFamily="2" charset="2"/>
              <a:buChar char="Ø"/>
            </a:pPr>
            <a:r>
              <a:rPr lang="en-US" sz="2400" b="1" dirty="0"/>
              <a:t>Outcome:</a:t>
            </a:r>
            <a:r>
              <a:rPr lang="en-US" sz="2400" dirty="0"/>
              <a:t> Best models selected based on highest recall, reducing missed cases.</a:t>
            </a:r>
          </a:p>
        </p:txBody>
      </p:sp>
      <p:pic>
        <p:nvPicPr>
          <p:cNvPr id="12" name="Picture 11">
            <a:extLst>
              <a:ext uri="{FF2B5EF4-FFF2-40B4-BE49-F238E27FC236}">
                <a16:creationId xmlns:a16="http://schemas.microsoft.com/office/drawing/2014/main" id="{2B08FC49-E0E8-B392-F12E-AC559BB11926}"/>
              </a:ext>
            </a:extLst>
          </p:cNvPr>
          <p:cNvPicPr>
            <a:picLocks noChangeAspect="1"/>
          </p:cNvPicPr>
          <p:nvPr/>
        </p:nvPicPr>
        <p:blipFill>
          <a:blip r:embed="rId3"/>
          <a:stretch>
            <a:fillRect/>
          </a:stretch>
        </p:blipFill>
        <p:spPr>
          <a:xfrm>
            <a:off x="6684496" y="1025094"/>
            <a:ext cx="4754150" cy="2578287"/>
          </a:xfrm>
          <a:prstGeom prst="rect">
            <a:avLst/>
          </a:prstGeom>
        </p:spPr>
      </p:pic>
      <p:pic>
        <p:nvPicPr>
          <p:cNvPr id="14" name="Picture 13">
            <a:extLst>
              <a:ext uri="{FF2B5EF4-FFF2-40B4-BE49-F238E27FC236}">
                <a16:creationId xmlns:a16="http://schemas.microsoft.com/office/drawing/2014/main" id="{0453EAAB-009B-EB37-6D19-B35E6515E77A}"/>
              </a:ext>
            </a:extLst>
          </p:cNvPr>
          <p:cNvPicPr>
            <a:picLocks noChangeAspect="1"/>
          </p:cNvPicPr>
          <p:nvPr/>
        </p:nvPicPr>
        <p:blipFill>
          <a:blip r:embed="rId4"/>
          <a:stretch>
            <a:fillRect/>
          </a:stretch>
        </p:blipFill>
        <p:spPr>
          <a:xfrm>
            <a:off x="6684496" y="3648547"/>
            <a:ext cx="4754150" cy="2662637"/>
          </a:xfrm>
          <a:prstGeom prst="rect">
            <a:avLst/>
          </a:prstGeom>
        </p:spPr>
      </p:pic>
    </p:spTree>
    <p:extLst>
      <p:ext uri="{BB962C8B-B14F-4D97-AF65-F5344CB8AC3E}">
        <p14:creationId xmlns:p14="http://schemas.microsoft.com/office/powerpoint/2010/main" val="1969787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3E5FEE2D-79E5-4C1D-8BF7-EE619CA7039A}"/>
              </a:ext>
            </a:extLst>
          </p:cNvPr>
          <p:cNvSpPr>
            <a:spLocks noGrp="1"/>
          </p:cNvSpPr>
          <p:nvPr>
            <p:ph type="title"/>
          </p:nvPr>
        </p:nvSpPr>
        <p:spPr>
          <a:xfrm>
            <a:off x="1610751" y="339483"/>
            <a:ext cx="7954108" cy="757798"/>
          </a:xfrm>
          <a:prstGeom prst="round2DiagRect">
            <a:avLst/>
          </a:prstGeom>
        </p:spPr>
        <p:style>
          <a:lnRef idx="2">
            <a:schemeClr val="dk1"/>
          </a:lnRef>
          <a:fillRef idx="1">
            <a:schemeClr val="lt1"/>
          </a:fillRef>
          <a:effectRef idx="0">
            <a:schemeClr val="dk1"/>
          </a:effectRef>
          <a:fontRef idx="minor">
            <a:schemeClr val="dk1"/>
          </a:fontRef>
        </p:style>
        <p:txBody>
          <a:bodyPr anchor="b"/>
          <a:lstStyle/>
          <a:p>
            <a:r>
              <a:rPr lang="en-US" b="1" dirty="0"/>
              <a:t>MODEL RESULTS</a:t>
            </a:r>
          </a:p>
        </p:txBody>
      </p:sp>
      <p:graphicFrame>
        <p:nvGraphicFramePr>
          <p:cNvPr id="13" name="Table Placeholder 2">
            <a:extLst>
              <a:ext uri="{FF2B5EF4-FFF2-40B4-BE49-F238E27FC236}">
                <a16:creationId xmlns:a16="http://schemas.microsoft.com/office/drawing/2014/main" id="{4A94C7BE-6E60-66F0-EFD4-2F452B0D743A}"/>
              </a:ext>
            </a:extLst>
          </p:cNvPr>
          <p:cNvGraphicFramePr>
            <a:graphicFrameLocks noGrp="1"/>
          </p:cNvGraphicFramePr>
          <p:nvPr>
            <p:ph type="tbl" sz="quarter" idx="14"/>
            <p:extLst>
              <p:ext uri="{D42A27DB-BD31-4B8C-83A1-F6EECF244321}">
                <p14:modId xmlns:p14="http://schemas.microsoft.com/office/powerpoint/2010/main" val="213530762"/>
              </p:ext>
            </p:extLst>
          </p:nvPr>
        </p:nvGraphicFramePr>
        <p:xfrm>
          <a:off x="728002" y="1187859"/>
          <a:ext cx="9600029" cy="2041376"/>
        </p:xfrm>
        <a:graphic>
          <a:graphicData uri="http://schemas.openxmlformats.org/drawingml/2006/table">
            <a:tbl>
              <a:tblPr firstRow="1" bandRow="1">
                <a:tableStyleId>{7E9639D4-E3E2-4D34-9284-5A2195B3D0D7}</a:tableStyleId>
              </a:tblPr>
              <a:tblGrid>
                <a:gridCol w="3990696">
                  <a:extLst>
                    <a:ext uri="{9D8B030D-6E8A-4147-A177-3AD203B41FA5}">
                      <a16:colId xmlns:a16="http://schemas.microsoft.com/office/drawing/2014/main" val="127040821"/>
                    </a:ext>
                  </a:extLst>
                </a:gridCol>
                <a:gridCol w="2848217">
                  <a:extLst>
                    <a:ext uri="{9D8B030D-6E8A-4147-A177-3AD203B41FA5}">
                      <a16:colId xmlns:a16="http://schemas.microsoft.com/office/drawing/2014/main" val="149845700"/>
                    </a:ext>
                  </a:extLst>
                </a:gridCol>
                <a:gridCol w="2761116">
                  <a:extLst>
                    <a:ext uri="{9D8B030D-6E8A-4147-A177-3AD203B41FA5}">
                      <a16:colId xmlns:a16="http://schemas.microsoft.com/office/drawing/2014/main" val="3119692462"/>
                    </a:ext>
                  </a:extLst>
                </a:gridCol>
              </a:tblGrid>
              <a:tr h="541392">
                <a:tc>
                  <a:txBody>
                    <a:bodyPr/>
                    <a:lstStyle/>
                    <a:p>
                      <a:pPr algn="ctr"/>
                      <a:r>
                        <a:rPr lang="en-US" b="0" dirty="0"/>
                        <a:t>MODELS</a:t>
                      </a:r>
                    </a:p>
                  </a:txBody>
                  <a:tcPr anchor="ctr"/>
                </a:tc>
                <a:tc>
                  <a:txBody>
                    <a:bodyPr/>
                    <a:lstStyle/>
                    <a:p>
                      <a:pPr algn="ctr"/>
                      <a:r>
                        <a:rPr lang="en-US" b="0" dirty="0"/>
                        <a:t>ACCURACY</a:t>
                      </a:r>
                    </a:p>
                  </a:txBody>
                  <a:tcPr anchor="ctr"/>
                </a:tc>
                <a:tc>
                  <a:txBody>
                    <a:bodyPr/>
                    <a:lstStyle/>
                    <a:p>
                      <a:pPr algn="ctr"/>
                      <a:r>
                        <a:rPr lang="en-US" b="0" dirty="0"/>
                        <a:t>RECALL(Class 1)</a:t>
                      </a:r>
                    </a:p>
                  </a:txBody>
                  <a:tcPr anchor="ctr"/>
                </a:tc>
                <a:extLst>
                  <a:ext uri="{0D108BD9-81ED-4DB2-BD59-A6C34878D82A}">
                    <a16:rowId xmlns:a16="http://schemas.microsoft.com/office/drawing/2014/main" val="3298013591"/>
                  </a:ext>
                </a:extLst>
              </a:tr>
              <a:tr h="541392">
                <a:tc>
                  <a:txBody>
                    <a:bodyPr/>
                    <a:lstStyle/>
                    <a:p>
                      <a:pPr algn="ctr"/>
                      <a:r>
                        <a:rPr lang="en-US" sz="1800" b="0" i="0" kern="1200" dirty="0">
                          <a:solidFill>
                            <a:schemeClr val="tx1"/>
                          </a:solidFill>
                          <a:effectLst/>
                          <a:latin typeface="+mn-lt"/>
                          <a:ea typeface="+mn-ea"/>
                          <a:cs typeface="+mn-cs"/>
                        </a:rPr>
                        <a:t>Logistic Regression</a:t>
                      </a:r>
                      <a:endParaRPr lang="en-US" dirty="0"/>
                    </a:p>
                  </a:txBody>
                  <a:tcPr anchor="ctr"/>
                </a:tc>
                <a:tc>
                  <a:txBody>
                    <a:bodyPr/>
                    <a:lstStyle/>
                    <a:p>
                      <a:pPr algn="ctr"/>
                      <a:r>
                        <a:rPr lang="en-US" dirty="0"/>
                        <a:t>0.78</a:t>
                      </a:r>
                    </a:p>
                  </a:txBody>
                  <a:tcPr anchor="ctr"/>
                </a:tc>
                <a:tc>
                  <a:txBody>
                    <a:bodyPr/>
                    <a:lstStyle/>
                    <a:p>
                      <a:pPr algn="ctr"/>
                      <a:r>
                        <a:rPr lang="en-US" dirty="0"/>
                        <a:t>0.27</a:t>
                      </a:r>
                    </a:p>
                  </a:txBody>
                  <a:tcPr anchor="ctr"/>
                </a:tc>
                <a:extLst>
                  <a:ext uri="{0D108BD9-81ED-4DB2-BD59-A6C34878D82A}">
                    <a16:rowId xmlns:a16="http://schemas.microsoft.com/office/drawing/2014/main" val="3873867931"/>
                  </a:ext>
                </a:extLst>
              </a:tr>
              <a:tr h="417200">
                <a:tc>
                  <a:txBody>
                    <a:bodyPr/>
                    <a:lstStyle/>
                    <a:p>
                      <a:pPr algn="ctr"/>
                      <a:r>
                        <a:rPr lang="en-US" sz="1800" b="0" i="0" kern="1200" dirty="0" err="1">
                          <a:solidFill>
                            <a:schemeClr val="tx1"/>
                          </a:solidFill>
                          <a:effectLst/>
                          <a:latin typeface="+mn-lt"/>
                          <a:ea typeface="+mn-ea"/>
                          <a:cs typeface="+mn-cs"/>
                        </a:rPr>
                        <a:t>XGBoost</a:t>
                      </a:r>
                      <a:endParaRPr lang="en-US" dirty="0"/>
                    </a:p>
                  </a:txBody>
                  <a:tcPr anchor="ctr"/>
                </a:tc>
                <a:tc>
                  <a:txBody>
                    <a:bodyPr/>
                    <a:lstStyle/>
                    <a:p>
                      <a:pPr algn="ctr"/>
                      <a:r>
                        <a:rPr lang="en-US" dirty="0"/>
                        <a:t>0.88</a:t>
                      </a:r>
                    </a:p>
                  </a:txBody>
                  <a:tcPr anchor="ctr"/>
                </a:tc>
                <a:tc>
                  <a:txBody>
                    <a:bodyPr/>
                    <a:lstStyle/>
                    <a:p>
                      <a:pPr algn="ctr"/>
                      <a:r>
                        <a:rPr lang="en-US" dirty="0"/>
                        <a:t>0.27</a:t>
                      </a:r>
                    </a:p>
                  </a:txBody>
                  <a:tcPr anchor="ctr"/>
                </a:tc>
                <a:extLst>
                  <a:ext uri="{0D108BD9-81ED-4DB2-BD59-A6C34878D82A}">
                    <a16:rowId xmlns:a16="http://schemas.microsoft.com/office/drawing/2014/main" val="85209771"/>
                  </a:ext>
                </a:extLst>
              </a:tr>
              <a:tr h="541392">
                <a:tc>
                  <a:txBody>
                    <a:bodyPr/>
                    <a:lstStyle/>
                    <a:p>
                      <a:pPr algn="ctr"/>
                      <a:r>
                        <a:rPr lang="en-US" sz="1800" b="0" i="0" kern="1200" dirty="0">
                          <a:solidFill>
                            <a:schemeClr val="tx1"/>
                          </a:solidFill>
                          <a:effectLst/>
                          <a:latin typeface="+mn-lt"/>
                          <a:ea typeface="+mn-ea"/>
                          <a:cs typeface="+mn-cs"/>
                        </a:rPr>
                        <a:t>Random Forest</a:t>
                      </a:r>
                      <a:endParaRPr lang="en-US" dirty="0"/>
                    </a:p>
                  </a:txBody>
                  <a:tcPr anchor="ctr"/>
                </a:tc>
                <a:tc>
                  <a:txBody>
                    <a:bodyPr/>
                    <a:lstStyle/>
                    <a:p>
                      <a:pPr algn="ctr"/>
                      <a:r>
                        <a:rPr lang="en-US" dirty="0"/>
                        <a:t>0.93</a:t>
                      </a:r>
                    </a:p>
                  </a:txBody>
                  <a:tcPr anchor="ctr"/>
                </a:tc>
                <a:tc>
                  <a:txBody>
                    <a:bodyPr/>
                    <a:lstStyle/>
                    <a:p>
                      <a:pPr algn="ctr"/>
                      <a:r>
                        <a:rPr lang="en-US" dirty="0"/>
                        <a:t>0.09</a:t>
                      </a:r>
                    </a:p>
                  </a:txBody>
                  <a:tcPr anchor="ctr"/>
                </a:tc>
                <a:extLst>
                  <a:ext uri="{0D108BD9-81ED-4DB2-BD59-A6C34878D82A}">
                    <a16:rowId xmlns:a16="http://schemas.microsoft.com/office/drawing/2014/main" val="4061031278"/>
                  </a:ext>
                </a:extLst>
              </a:tr>
            </a:tbl>
          </a:graphicData>
        </a:graphic>
      </p:graphicFrame>
      <p:sp>
        <p:nvSpPr>
          <p:cNvPr id="5" name="Slide Number Placeholder 5">
            <a:extLst>
              <a:ext uri="{FF2B5EF4-FFF2-40B4-BE49-F238E27FC236}">
                <a16:creationId xmlns:a16="http://schemas.microsoft.com/office/drawing/2014/main" id="{4832B776-E386-1CF9-CC8F-2D2FF3EA7066}"/>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13</a:t>
            </a:fld>
            <a:endParaRPr lang="en-US" dirty="0"/>
          </a:p>
        </p:txBody>
      </p:sp>
      <p:sp>
        <p:nvSpPr>
          <p:cNvPr id="6" name="TextBox 5">
            <a:extLst>
              <a:ext uri="{FF2B5EF4-FFF2-40B4-BE49-F238E27FC236}">
                <a16:creationId xmlns:a16="http://schemas.microsoft.com/office/drawing/2014/main" id="{D90D5C0B-1B85-7D77-6951-8C5368A2B0ED}"/>
              </a:ext>
            </a:extLst>
          </p:cNvPr>
          <p:cNvSpPr txBox="1"/>
          <p:nvPr/>
        </p:nvSpPr>
        <p:spPr>
          <a:xfrm>
            <a:off x="838200" y="3319813"/>
            <a:ext cx="9499210" cy="3098721"/>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marL="342900" indent="-342900">
              <a:buFont typeface="Wingdings" panose="05000000000000000000" pitchFamily="2" charset="2"/>
              <a:buChar char="Ø"/>
            </a:pPr>
            <a:r>
              <a:rPr lang="en-US" sz="2200" dirty="0"/>
              <a:t>Although Random Forest achieves the highest accuracy (0.93), it performs poorly in detecting positive cases, with a recall of only 0.09, indicating that most cervical cancer cases are misclassified.</a:t>
            </a:r>
          </a:p>
          <a:p>
            <a:pPr marL="342900" indent="-342900">
              <a:buFont typeface="Wingdings" panose="05000000000000000000" pitchFamily="2" charset="2"/>
              <a:buChar char="Ø"/>
            </a:pPr>
            <a:r>
              <a:rPr lang="en-US" sz="2200" dirty="0"/>
              <a:t> In contrast, both Logistic Regression and </a:t>
            </a:r>
            <a:r>
              <a:rPr lang="en-US" sz="2200" dirty="0" err="1"/>
              <a:t>XGBoost</a:t>
            </a:r>
            <a:r>
              <a:rPr lang="en-US" sz="2200" dirty="0"/>
              <a:t> achieve higher recall (0.27), making them more suitable for medical screening tasks. </a:t>
            </a:r>
          </a:p>
          <a:p>
            <a:pPr marL="342900" indent="-342900">
              <a:buFont typeface="Wingdings" panose="05000000000000000000" pitchFamily="2" charset="2"/>
              <a:buChar char="Ø"/>
            </a:pPr>
            <a:r>
              <a:rPr lang="en-US" sz="2200" dirty="0"/>
              <a:t>Among these, </a:t>
            </a:r>
            <a:r>
              <a:rPr lang="en-US" sz="2200" dirty="0" err="1"/>
              <a:t>XGBoost</a:t>
            </a:r>
            <a:r>
              <a:rPr lang="en-US" sz="2200" dirty="0"/>
              <a:t> provides the best balance between accuracy and recall, and is therefore the preferred model for cervical cancer prediction.</a:t>
            </a:r>
          </a:p>
        </p:txBody>
      </p:sp>
    </p:spTree>
    <p:extLst>
      <p:ext uri="{BB962C8B-B14F-4D97-AF65-F5344CB8AC3E}">
        <p14:creationId xmlns:p14="http://schemas.microsoft.com/office/powerpoint/2010/main" val="2791821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9140014-73D5-419B-8867-972BB18D52D4}"/>
              </a:ext>
            </a:extLst>
          </p:cNvPr>
          <p:cNvSpPr>
            <a:spLocks noGrp="1"/>
          </p:cNvSpPr>
          <p:nvPr>
            <p:ph type="title"/>
          </p:nvPr>
        </p:nvSpPr>
        <p:spPr>
          <a:xfrm>
            <a:off x="2439001" y="85751"/>
            <a:ext cx="6550256" cy="616673"/>
          </a:xfrm>
          <a:prstGeom prst="snip2DiagRect">
            <a:avLst/>
          </a:prstGeom>
        </p:spPr>
        <p:style>
          <a:lnRef idx="2">
            <a:schemeClr val="dk1"/>
          </a:lnRef>
          <a:fillRef idx="1">
            <a:schemeClr val="lt1"/>
          </a:fillRef>
          <a:effectRef idx="0">
            <a:schemeClr val="dk1"/>
          </a:effectRef>
          <a:fontRef idx="minor">
            <a:schemeClr val="dk1"/>
          </a:fontRef>
        </p:style>
        <p:txBody>
          <a:bodyPr anchor="b"/>
          <a:lstStyle/>
          <a:p>
            <a:pPr algn="ctr"/>
            <a:r>
              <a:rPr lang="en-US" dirty="0"/>
              <a:t>MODELS RESULTS</a:t>
            </a:r>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14</a:t>
            </a:fld>
            <a:endParaRPr lang="en-US" dirty="0"/>
          </a:p>
        </p:txBody>
      </p:sp>
      <p:pic>
        <p:nvPicPr>
          <p:cNvPr id="3" name="Picture 2">
            <a:extLst>
              <a:ext uri="{FF2B5EF4-FFF2-40B4-BE49-F238E27FC236}">
                <a16:creationId xmlns:a16="http://schemas.microsoft.com/office/drawing/2014/main" id="{DEDFE694-0BDA-75F9-CA4C-02CA5FF15D73}"/>
              </a:ext>
            </a:extLst>
          </p:cNvPr>
          <p:cNvPicPr>
            <a:picLocks noChangeAspect="1"/>
          </p:cNvPicPr>
          <p:nvPr/>
        </p:nvPicPr>
        <p:blipFill>
          <a:blip r:embed="rId3"/>
          <a:stretch>
            <a:fillRect/>
          </a:stretch>
        </p:blipFill>
        <p:spPr>
          <a:xfrm>
            <a:off x="737833" y="785969"/>
            <a:ext cx="9952592" cy="3318868"/>
          </a:xfrm>
          <a:prstGeom prst="rect">
            <a:avLst/>
          </a:prstGeom>
          <a:ln>
            <a:solidFill>
              <a:schemeClr val="tx1"/>
            </a:solidFill>
          </a:ln>
        </p:spPr>
      </p:pic>
      <p:sp>
        <p:nvSpPr>
          <p:cNvPr id="5" name="TextBox 4">
            <a:extLst>
              <a:ext uri="{FF2B5EF4-FFF2-40B4-BE49-F238E27FC236}">
                <a16:creationId xmlns:a16="http://schemas.microsoft.com/office/drawing/2014/main" id="{7446EC81-818E-5440-714C-C63FFB25E4C0}"/>
              </a:ext>
            </a:extLst>
          </p:cNvPr>
          <p:cNvSpPr txBox="1"/>
          <p:nvPr/>
        </p:nvSpPr>
        <p:spPr>
          <a:xfrm>
            <a:off x="7855635" y="4476273"/>
            <a:ext cx="3629464" cy="175432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b="1" dirty="0"/>
              <a:t>Random Forest</a:t>
            </a:r>
          </a:p>
          <a:p>
            <a:pPr>
              <a:buFont typeface="Arial" panose="020B0604020202020204" pitchFamily="34" charset="0"/>
              <a:buChar char="•"/>
            </a:pPr>
            <a:r>
              <a:rPr lang="en-US" dirty="0"/>
              <a:t>TN: 159 | FP: 2 </a:t>
            </a:r>
          </a:p>
          <a:p>
            <a:pPr>
              <a:buFont typeface="Arial" panose="020B0604020202020204" pitchFamily="34" charset="0"/>
              <a:buChar char="•"/>
            </a:pPr>
            <a:r>
              <a:rPr lang="en-US" dirty="0"/>
              <a:t>FN: 10 | TP: 1</a:t>
            </a:r>
            <a:br>
              <a:rPr lang="en-US" dirty="0"/>
            </a:br>
            <a:r>
              <a:rPr lang="en-US" dirty="0"/>
              <a:t>Very low false positives but misses most cancer cases, indicating poor detection performance.</a:t>
            </a:r>
          </a:p>
        </p:txBody>
      </p:sp>
      <p:sp>
        <p:nvSpPr>
          <p:cNvPr id="7" name="TextBox 6">
            <a:extLst>
              <a:ext uri="{FF2B5EF4-FFF2-40B4-BE49-F238E27FC236}">
                <a16:creationId xmlns:a16="http://schemas.microsoft.com/office/drawing/2014/main" id="{9D8282C1-485A-5C5B-0817-A8B505FD292B}"/>
              </a:ext>
            </a:extLst>
          </p:cNvPr>
          <p:cNvSpPr txBox="1"/>
          <p:nvPr/>
        </p:nvSpPr>
        <p:spPr>
          <a:xfrm>
            <a:off x="838201" y="4230588"/>
            <a:ext cx="2743200" cy="2308324"/>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b="1" dirty="0"/>
              <a:t>Logistic Regression</a:t>
            </a:r>
          </a:p>
          <a:p>
            <a:pPr>
              <a:buFont typeface="Arial" panose="020B0604020202020204" pitchFamily="34" charset="0"/>
              <a:buChar char="•"/>
            </a:pPr>
            <a:r>
              <a:rPr lang="en-US" dirty="0"/>
              <a:t>TN: 134 | FP: 27 </a:t>
            </a:r>
          </a:p>
          <a:p>
            <a:pPr>
              <a:buFont typeface="Arial" panose="020B0604020202020204" pitchFamily="34" charset="0"/>
              <a:buChar char="•"/>
            </a:pPr>
            <a:r>
              <a:rPr lang="en-US" dirty="0"/>
              <a:t>FN: 9 | TP: 2</a:t>
            </a:r>
            <a:br>
              <a:rPr lang="en-US" dirty="0"/>
            </a:br>
            <a:r>
              <a:rPr lang="en-US" dirty="0"/>
              <a:t>Detects some cancer cases but produces a high number of false positives and still misses several cases. </a:t>
            </a:r>
          </a:p>
        </p:txBody>
      </p:sp>
      <p:sp>
        <p:nvSpPr>
          <p:cNvPr id="10" name="TextBox 9">
            <a:extLst>
              <a:ext uri="{FF2B5EF4-FFF2-40B4-BE49-F238E27FC236}">
                <a16:creationId xmlns:a16="http://schemas.microsoft.com/office/drawing/2014/main" id="{E0DD7FBB-F296-EE89-67EF-04C51F5AE8F3}"/>
              </a:ext>
            </a:extLst>
          </p:cNvPr>
          <p:cNvSpPr txBox="1"/>
          <p:nvPr/>
        </p:nvSpPr>
        <p:spPr>
          <a:xfrm>
            <a:off x="4043875" y="4337773"/>
            <a:ext cx="3217985" cy="2031325"/>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b="1" dirty="0" err="1"/>
              <a:t>XGBoost</a:t>
            </a:r>
            <a:endParaRPr lang="en-US" b="1" dirty="0"/>
          </a:p>
          <a:p>
            <a:pPr>
              <a:buFont typeface="Arial" panose="020B0604020202020204" pitchFamily="34" charset="0"/>
              <a:buChar char="•"/>
            </a:pPr>
            <a:r>
              <a:rPr lang="en-US" dirty="0"/>
              <a:t>TN: 147 | FP: 14 </a:t>
            </a:r>
          </a:p>
          <a:p>
            <a:pPr>
              <a:buFont typeface="Arial" panose="020B0604020202020204" pitchFamily="34" charset="0"/>
              <a:buChar char="•"/>
            </a:pPr>
            <a:r>
              <a:rPr lang="en-US" dirty="0"/>
              <a:t>FN: 9 | TP: 2</a:t>
            </a:r>
            <a:br>
              <a:rPr lang="en-US" dirty="0"/>
            </a:br>
            <a:r>
              <a:rPr lang="en-US" dirty="0"/>
              <a:t>Provides a better balance, reducing false positives while maintaining the same level of cancer detection. </a:t>
            </a:r>
          </a:p>
        </p:txBody>
      </p:sp>
    </p:spTree>
    <p:extLst>
      <p:ext uri="{BB962C8B-B14F-4D97-AF65-F5344CB8AC3E}">
        <p14:creationId xmlns:p14="http://schemas.microsoft.com/office/powerpoint/2010/main" val="2403577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91BD6-FFC1-BC4E-912A-2090AD9FC0B5}"/>
            </a:ext>
          </a:extLst>
        </p:cNvPr>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DC4486C3-414E-3585-460A-2D36177C9C00}"/>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15</a:t>
            </a:fld>
            <a:endParaRPr lang="en-US" dirty="0"/>
          </a:p>
        </p:txBody>
      </p:sp>
      <p:sp>
        <p:nvSpPr>
          <p:cNvPr id="11" name="TextBox 10">
            <a:extLst>
              <a:ext uri="{FF2B5EF4-FFF2-40B4-BE49-F238E27FC236}">
                <a16:creationId xmlns:a16="http://schemas.microsoft.com/office/drawing/2014/main" id="{67CA0361-7AFC-CFB1-08A6-16ED90C8F189}"/>
              </a:ext>
            </a:extLst>
          </p:cNvPr>
          <p:cNvSpPr txBox="1"/>
          <p:nvPr/>
        </p:nvSpPr>
        <p:spPr>
          <a:xfrm>
            <a:off x="1634782" y="875109"/>
            <a:ext cx="8922436" cy="2553891"/>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marL="342900" indent="-342900">
              <a:buFont typeface="Wingdings" panose="05000000000000000000" pitchFamily="2" charset="2"/>
              <a:buChar char="Ø"/>
            </a:pPr>
            <a:r>
              <a:rPr lang="en-US" sz="2400" dirty="0"/>
              <a:t>The results show good accuracy (up to 93%), but overall performance is limited by low recall. </a:t>
            </a:r>
          </a:p>
          <a:p>
            <a:pPr marL="342900" indent="-342900">
              <a:buFont typeface="Wingdings" panose="05000000000000000000" pitchFamily="2" charset="2"/>
              <a:buChar char="Ø"/>
            </a:pPr>
            <a:r>
              <a:rPr lang="en-US" sz="2400" dirty="0"/>
              <a:t>50% accuracy is not acceptable, and while 80%+ is better, accuracy alone is not sufficient for this task. </a:t>
            </a:r>
          </a:p>
          <a:p>
            <a:pPr marL="342900" indent="-342900">
              <a:buFont typeface="Wingdings" panose="05000000000000000000" pitchFamily="2" charset="2"/>
              <a:buChar char="Ø"/>
            </a:pPr>
            <a:r>
              <a:rPr lang="en-US" sz="2400" dirty="0"/>
              <a:t>For cervical cancer prediction, high recall is more important to </a:t>
            </a:r>
            <a:r>
              <a:rPr lang="en-US" sz="2400" dirty="0" err="1"/>
              <a:t>minimise</a:t>
            </a:r>
            <a:r>
              <a:rPr lang="en-US" sz="2400" dirty="0"/>
              <a:t> missed cases. </a:t>
            </a:r>
          </a:p>
        </p:txBody>
      </p:sp>
      <p:sp>
        <p:nvSpPr>
          <p:cNvPr id="16" name="TextBox 15">
            <a:extLst>
              <a:ext uri="{FF2B5EF4-FFF2-40B4-BE49-F238E27FC236}">
                <a16:creationId xmlns:a16="http://schemas.microsoft.com/office/drawing/2014/main" id="{75A14142-DD03-1D2C-ABF2-A49AF0708B8A}"/>
              </a:ext>
            </a:extLst>
          </p:cNvPr>
          <p:cNvSpPr txBox="1"/>
          <p:nvPr/>
        </p:nvSpPr>
        <p:spPr>
          <a:xfrm>
            <a:off x="3046828" y="409838"/>
            <a:ext cx="6098344" cy="483989"/>
          </a:xfrm>
          <a:prstGeom prst="snip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dirty="0"/>
              <a:t>EVALUATION AND FUTURE WORK</a:t>
            </a:r>
          </a:p>
        </p:txBody>
      </p:sp>
      <p:sp>
        <p:nvSpPr>
          <p:cNvPr id="18" name="TextBox 17">
            <a:extLst>
              <a:ext uri="{FF2B5EF4-FFF2-40B4-BE49-F238E27FC236}">
                <a16:creationId xmlns:a16="http://schemas.microsoft.com/office/drawing/2014/main" id="{9C81CDFB-5A82-21E8-8E8D-A5F67D311706}"/>
              </a:ext>
            </a:extLst>
          </p:cNvPr>
          <p:cNvSpPr txBox="1"/>
          <p:nvPr/>
        </p:nvSpPr>
        <p:spPr>
          <a:xfrm>
            <a:off x="1634782" y="3985020"/>
            <a:ext cx="8738568" cy="2553891"/>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Wingdings" panose="05000000000000000000" pitchFamily="2" charset="2"/>
              <a:buChar char="Ø"/>
            </a:pPr>
            <a:r>
              <a:rPr lang="en-US" sz="2400" dirty="0"/>
              <a:t>Improve recall through threshold adjustment and further tuning.</a:t>
            </a:r>
          </a:p>
          <a:p>
            <a:pPr marL="285750" indent="-285750">
              <a:buFont typeface="Wingdings" panose="05000000000000000000" pitchFamily="2" charset="2"/>
              <a:buChar char="Ø"/>
            </a:pPr>
            <a:r>
              <a:rPr lang="en-US" sz="2400" dirty="0"/>
              <a:t>Apply additional models (e.g., SVM, Neural Networks, ensemble methods). </a:t>
            </a:r>
          </a:p>
          <a:p>
            <a:pPr marL="285750" indent="-285750">
              <a:buFont typeface="Wingdings" panose="05000000000000000000" pitchFamily="2" charset="2"/>
              <a:buChar char="Ø"/>
            </a:pPr>
            <a:r>
              <a:rPr lang="en-US" sz="2400" dirty="0"/>
              <a:t>Enhance data quality and explore more relevant features. </a:t>
            </a:r>
          </a:p>
          <a:p>
            <a:pPr marL="285750" indent="-285750">
              <a:buFont typeface="Wingdings" panose="05000000000000000000" pitchFamily="2" charset="2"/>
              <a:buChar char="Ø"/>
            </a:pPr>
            <a:r>
              <a:rPr lang="en-US" sz="2400" dirty="0"/>
              <a:t>Evaluate additional metrics such as FPR and precision.</a:t>
            </a:r>
          </a:p>
        </p:txBody>
      </p:sp>
      <p:sp>
        <p:nvSpPr>
          <p:cNvPr id="20" name="TextBox 19">
            <a:extLst>
              <a:ext uri="{FF2B5EF4-FFF2-40B4-BE49-F238E27FC236}">
                <a16:creationId xmlns:a16="http://schemas.microsoft.com/office/drawing/2014/main" id="{77C1DEC1-A501-A178-1497-5E4A5E59748B}"/>
              </a:ext>
            </a:extLst>
          </p:cNvPr>
          <p:cNvSpPr txBox="1"/>
          <p:nvPr/>
        </p:nvSpPr>
        <p:spPr>
          <a:xfrm>
            <a:off x="2793608" y="3652276"/>
            <a:ext cx="6098344" cy="483989"/>
          </a:xfrm>
          <a:prstGeom prst="round2Same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dirty="0"/>
              <a:t>PLANS FOR IMPROVEMENT</a:t>
            </a:r>
          </a:p>
        </p:txBody>
      </p:sp>
    </p:spTree>
    <p:extLst>
      <p:ext uri="{BB962C8B-B14F-4D97-AF65-F5344CB8AC3E}">
        <p14:creationId xmlns:p14="http://schemas.microsoft.com/office/powerpoint/2010/main" val="3945303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3D37D-0A6A-DC69-931B-1E49DE00F1A8}"/>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AAFB0398-8478-3191-ED71-59ECF1BBA15B}"/>
              </a:ext>
            </a:extLst>
          </p:cNvPr>
          <p:cNvSpPr>
            <a:spLocks noGrp="1"/>
          </p:cNvSpPr>
          <p:nvPr>
            <p:ph type="title"/>
          </p:nvPr>
        </p:nvSpPr>
        <p:spPr>
          <a:xfrm>
            <a:off x="2633825" y="209796"/>
            <a:ext cx="7945080" cy="652338"/>
          </a:xfrm>
          <a:prstGeom prst="round2DiagRect">
            <a:avLst/>
          </a:prstGeom>
        </p:spPr>
        <p:style>
          <a:lnRef idx="2">
            <a:schemeClr val="dk1"/>
          </a:lnRef>
          <a:fillRef idx="1">
            <a:schemeClr val="lt1"/>
          </a:fillRef>
          <a:effectRef idx="0">
            <a:schemeClr val="dk1"/>
          </a:effectRef>
          <a:fontRef idx="minor">
            <a:schemeClr val="dk1"/>
          </a:fontRef>
        </p:style>
        <p:txBody>
          <a:bodyPr anchor="b">
            <a:normAutofit/>
          </a:bodyPr>
          <a:lstStyle/>
          <a:p>
            <a:pPr algn="ctr"/>
            <a:r>
              <a:rPr lang="en-US" b="1" dirty="0"/>
              <a:t>Cervical Cancer Trends in West Africa</a:t>
            </a:r>
          </a:p>
        </p:txBody>
      </p:sp>
      <p:sp>
        <p:nvSpPr>
          <p:cNvPr id="9" name="Slide Number Placeholder 8">
            <a:extLst>
              <a:ext uri="{FF2B5EF4-FFF2-40B4-BE49-F238E27FC236}">
                <a16:creationId xmlns:a16="http://schemas.microsoft.com/office/drawing/2014/main" id="{7C0B5E29-58ED-A3DD-AD80-985B2BDFDAC1}"/>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16</a:t>
            </a:fld>
            <a:endParaRPr lang="en-US" dirty="0"/>
          </a:p>
        </p:txBody>
      </p:sp>
      <p:sp>
        <p:nvSpPr>
          <p:cNvPr id="3" name="TextBox 2">
            <a:extLst>
              <a:ext uri="{FF2B5EF4-FFF2-40B4-BE49-F238E27FC236}">
                <a16:creationId xmlns:a16="http://schemas.microsoft.com/office/drawing/2014/main" id="{6FB00E09-0925-83BC-AEDE-FBA22AB89FDC}"/>
              </a:ext>
            </a:extLst>
          </p:cNvPr>
          <p:cNvSpPr txBox="1"/>
          <p:nvPr/>
        </p:nvSpPr>
        <p:spPr>
          <a:xfrm>
            <a:off x="7055833" y="926857"/>
            <a:ext cx="4515730" cy="5769650"/>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Wingdings" panose="05000000000000000000" pitchFamily="2" charset="2"/>
              <a:buChar char="Ø"/>
            </a:pPr>
            <a:r>
              <a:rPr lang="en-US" dirty="0"/>
              <a:t>Incidence and prevalence vary significantly across West African countries. </a:t>
            </a:r>
          </a:p>
          <a:p>
            <a:pPr marL="285750" indent="-285750">
              <a:buFont typeface="Wingdings" panose="05000000000000000000" pitchFamily="2" charset="2"/>
              <a:buChar char="Ø"/>
            </a:pPr>
            <a:r>
              <a:rPr lang="en-US" dirty="0"/>
              <a:t>Some countries show consistently higher cervical cancer burden. </a:t>
            </a:r>
          </a:p>
          <a:p>
            <a:pPr marL="285750" indent="-285750">
              <a:buFont typeface="Wingdings" panose="05000000000000000000" pitchFamily="2" charset="2"/>
              <a:buChar char="Ø"/>
            </a:pPr>
            <a:r>
              <a:rPr lang="en-US" dirty="0"/>
              <a:t>Wide confidence intervals indicate uncertainty in country-level estimates. </a:t>
            </a:r>
          </a:p>
          <a:p>
            <a:pPr marL="285750" indent="-285750">
              <a:buFont typeface="Wingdings" panose="05000000000000000000" pitchFamily="2" charset="2"/>
              <a:buChar char="Ø"/>
            </a:pPr>
            <a:r>
              <a:rPr lang="en-US" dirty="0"/>
              <a:t>Regional trends show a steady increase in both incidence and prevalence over time. </a:t>
            </a:r>
          </a:p>
          <a:p>
            <a:pPr marL="285750" indent="-285750">
              <a:buFont typeface="Wingdings" panose="05000000000000000000" pitchFamily="2" charset="2"/>
              <a:buChar char="Ø"/>
            </a:pPr>
            <a:r>
              <a:rPr lang="en-US" dirty="0"/>
              <a:t>Sharp rise in recent years suggests a growing public health concern. </a:t>
            </a:r>
          </a:p>
          <a:p>
            <a:pPr marL="285750" indent="-285750">
              <a:buFont typeface="Wingdings" panose="05000000000000000000" pitchFamily="2" charset="2"/>
              <a:buChar char="Ø"/>
            </a:pPr>
            <a:r>
              <a:rPr lang="en-US" dirty="0"/>
              <a:t>Increasing uncertainty in recent data highlights limitations in data quality. </a:t>
            </a:r>
          </a:p>
          <a:p>
            <a:pPr marL="285750" indent="-285750">
              <a:buFont typeface="Wingdings" panose="05000000000000000000" pitchFamily="2" charset="2"/>
              <a:buChar char="Ø"/>
            </a:pPr>
            <a:r>
              <a:rPr lang="en-US" dirty="0"/>
              <a:t>Overall, cervical cancer burden is rising and unevenly distributed across the region. </a:t>
            </a:r>
          </a:p>
        </p:txBody>
      </p:sp>
      <p:pic>
        <p:nvPicPr>
          <p:cNvPr id="4" name="Picture 3">
            <a:extLst>
              <a:ext uri="{FF2B5EF4-FFF2-40B4-BE49-F238E27FC236}">
                <a16:creationId xmlns:a16="http://schemas.microsoft.com/office/drawing/2014/main" id="{CEAE983B-74ED-5AB5-64DD-73AA29725962}"/>
              </a:ext>
            </a:extLst>
          </p:cNvPr>
          <p:cNvPicPr>
            <a:picLocks noChangeAspect="1"/>
          </p:cNvPicPr>
          <p:nvPr/>
        </p:nvPicPr>
        <p:blipFill>
          <a:blip r:embed="rId3"/>
          <a:stretch>
            <a:fillRect/>
          </a:stretch>
        </p:blipFill>
        <p:spPr>
          <a:xfrm>
            <a:off x="620437" y="1103380"/>
            <a:ext cx="6216462" cy="2737130"/>
          </a:xfrm>
          <a:prstGeom prst="rect">
            <a:avLst/>
          </a:prstGeom>
          <a:ln>
            <a:solidFill>
              <a:schemeClr val="tx1"/>
            </a:solidFill>
          </a:ln>
        </p:spPr>
      </p:pic>
      <p:pic>
        <p:nvPicPr>
          <p:cNvPr id="6" name="Picture 5">
            <a:extLst>
              <a:ext uri="{FF2B5EF4-FFF2-40B4-BE49-F238E27FC236}">
                <a16:creationId xmlns:a16="http://schemas.microsoft.com/office/drawing/2014/main" id="{2D562FBC-23E0-8EBA-C56C-090B80456572}"/>
              </a:ext>
            </a:extLst>
          </p:cNvPr>
          <p:cNvPicPr>
            <a:picLocks noChangeAspect="1"/>
          </p:cNvPicPr>
          <p:nvPr/>
        </p:nvPicPr>
        <p:blipFill>
          <a:blip r:embed="rId4"/>
          <a:stretch>
            <a:fillRect/>
          </a:stretch>
        </p:blipFill>
        <p:spPr>
          <a:xfrm>
            <a:off x="620437" y="3911074"/>
            <a:ext cx="6216462" cy="2737130"/>
          </a:xfrm>
          <a:prstGeom prst="rect">
            <a:avLst/>
          </a:prstGeom>
          <a:ln>
            <a:solidFill>
              <a:schemeClr val="tx1"/>
            </a:solidFill>
          </a:ln>
        </p:spPr>
      </p:pic>
      <p:sp>
        <p:nvSpPr>
          <p:cNvPr id="7" name="Slide Number Placeholder 5">
            <a:extLst>
              <a:ext uri="{FF2B5EF4-FFF2-40B4-BE49-F238E27FC236}">
                <a16:creationId xmlns:a16="http://schemas.microsoft.com/office/drawing/2014/main" id="{8E8810AB-1DD6-4C5A-92D4-D8FAFF0D2A33}"/>
              </a:ext>
            </a:extLst>
          </p:cNvPr>
          <p:cNvSpPr>
            <a:spLocks noGrp="1"/>
          </p:cNvSpPr>
          <p:nvPr/>
        </p:nvSpPr>
        <p:spPr>
          <a:xfrm>
            <a:off x="10638458" y="6269678"/>
            <a:ext cx="987552"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16</a:t>
            </a:r>
          </a:p>
        </p:txBody>
      </p:sp>
    </p:spTree>
    <p:extLst>
      <p:ext uri="{BB962C8B-B14F-4D97-AF65-F5344CB8AC3E}">
        <p14:creationId xmlns:p14="http://schemas.microsoft.com/office/powerpoint/2010/main" val="62015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C0DAC-E784-FF53-2CD3-D5FC024544EE}"/>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6C178E53-D464-4375-AF7C-21B74F4D47CC}"/>
              </a:ext>
            </a:extLst>
          </p:cNvPr>
          <p:cNvSpPr>
            <a:spLocks noChangeArrowheads="1"/>
          </p:cNvSpPr>
          <p:nvPr/>
        </p:nvSpPr>
        <p:spPr bwMode="auto">
          <a:xfrm>
            <a:off x="675249" y="1635832"/>
            <a:ext cx="10494499" cy="4188381"/>
          </a:xfrm>
          <a:prstGeom prst="round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indent="-342900">
              <a:buFont typeface="Wingdings" panose="05000000000000000000" pitchFamily="2" charset="2"/>
              <a:buChar char="Ø"/>
            </a:pPr>
            <a:r>
              <a:rPr lang="en-US" sz="2400" dirty="0">
                <a:latin typeface="+mn-lt"/>
              </a:rPr>
              <a:t>Cervical cancer burden in West Africa is increasing, with rising incidence and prevalence and clear variation across countries.</a:t>
            </a:r>
          </a:p>
          <a:p>
            <a:pPr marL="342900" indent="-342900">
              <a:buFont typeface="Wingdings" panose="05000000000000000000" pitchFamily="2" charset="2"/>
              <a:buChar char="Ø"/>
            </a:pPr>
            <a:r>
              <a:rPr lang="en-US" sz="2400" dirty="0">
                <a:latin typeface="+mn-lt"/>
              </a:rPr>
              <a:t>Applied Logistic Regression, Random Forest, and </a:t>
            </a:r>
            <a:r>
              <a:rPr lang="en-US" sz="2400" dirty="0" err="1">
                <a:latin typeface="+mn-lt"/>
              </a:rPr>
              <a:t>XGBoost</a:t>
            </a:r>
            <a:r>
              <a:rPr lang="en-US" sz="2400" dirty="0">
                <a:latin typeface="+mn-lt"/>
              </a:rPr>
              <a:t> models to predict cervical cancer risk from lifestyle and clinical features.</a:t>
            </a:r>
          </a:p>
          <a:p>
            <a:pPr marL="342900" indent="-342900">
              <a:buFont typeface="Wingdings" panose="05000000000000000000" pitchFamily="2" charset="2"/>
              <a:buChar char="Ø"/>
            </a:pPr>
            <a:r>
              <a:rPr lang="en-US" sz="2400" dirty="0">
                <a:latin typeface="+mn-lt"/>
              </a:rPr>
              <a:t>Achieved up to 93% accuracy, but recall remained low, meaning many cancer cases were missed.</a:t>
            </a:r>
          </a:p>
          <a:p>
            <a:pPr marL="342900" indent="-342900">
              <a:buFont typeface="Wingdings" panose="05000000000000000000" pitchFamily="2" charset="2"/>
              <a:buChar char="Ø"/>
            </a:pPr>
            <a:r>
              <a:rPr lang="en-US" sz="2400" dirty="0">
                <a:latin typeface="+mn-lt"/>
              </a:rPr>
              <a:t>With hyperparameter tuning, </a:t>
            </a:r>
            <a:r>
              <a:rPr lang="en-US" sz="2400" dirty="0" err="1">
                <a:latin typeface="+mn-lt"/>
              </a:rPr>
              <a:t>XGBoost</a:t>
            </a:r>
            <a:r>
              <a:rPr lang="en-US" sz="2400" dirty="0">
                <a:latin typeface="+mn-lt"/>
              </a:rPr>
              <a:t> produced the best overall result, balancing accuracy and detection.</a:t>
            </a:r>
          </a:p>
          <a:p>
            <a:pPr marL="342900" indent="-342900">
              <a:buFont typeface="Wingdings" panose="05000000000000000000" pitchFamily="2" charset="2"/>
              <a:buChar char="Ø"/>
            </a:pPr>
            <a:r>
              <a:rPr lang="en-US" sz="2400" dirty="0">
                <a:latin typeface="+mn-lt"/>
              </a:rPr>
              <a:t>Accuracy alone is insufficient; recall is critical for effective medical prediction.</a:t>
            </a:r>
          </a:p>
        </p:txBody>
      </p:sp>
      <p:sp>
        <p:nvSpPr>
          <p:cNvPr id="6" name="Title 1">
            <a:extLst>
              <a:ext uri="{FF2B5EF4-FFF2-40B4-BE49-F238E27FC236}">
                <a16:creationId xmlns:a16="http://schemas.microsoft.com/office/drawing/2014/main" id="{CF2155C5-6C4B-BE0F-A3B4-2FBBCEECC0CD}"/>
              </a:ext>
            </a:extLst>
          </p:cNvPr>
          <p:cNvSpPr>
            <a:spLocks noGrp="1"/>
          </p:cNvSpPr>
          <p:nvPr>
            <p:ph type="ctrTitle"/>
          </p:nvPr>
        </p:nvSpPr>
        <p:spPr>
          <a:xfrm>
            <a:off x="2560320" y="809932"/>
            <a:ext cx="6718056" cy="634156"/>
          </a:xfrm>
          <a:prstGeom prst="round2SameRect">
            <a:avLst/>
          </a:prstGeom>
        </p:spPr>
        <p:style>
          <a:lnRef idx="2">
            <a:schemeClr val="dk1"/>
          </a:lnRef>
          <a:fillRef idx="1">
            <a:schemeClr val="lt1"/>
          </a:fillRef>
          <a:effectRef idx="0">
            <a:schemeClr val="dk1"/>
          </a:effectRef>
          <a:fontRef idx="minor">
            <a:schemeClr val="dk1"/>
          </a:fontRef>
        </p:style>
        <p:txBody>
          <a:bodyPr/>
          <a:lstStyle/>
          <a:p>
            <a:pPr algn="ctr"/>
            <a:r>
              <a:rPr lang="en-US" b="1" dirty="0"/>
              <a:t>Summary AND CONCLUSION</a:t>
            </a:r>
          </a:p>
        </p:txBody>
      </p:sp>
      <p:sp>
        <p:nvSpPr>
          <p:cNvPr id="2" name="Slide Number Placeholder 5">
            <a:extLst>
              <a:ext uri="{FF2B5EF4-FFF2-40B4-BE49-F238E27FC236}">
                <a16:creationId xmlns:a16="http://schemas.microsoft.com/office/drawing/2014/main" id="{650E7F80-7D2F-B226-96C3-BED660473C67}"/>
              </a:ext>
            </a:extLst>
          </p:cNvPr>
          <p:cNvSpPr>
            <a:spLocks noGrp="1"/>
          </p:cNvSpPr>
          <p:nvPr/>
        </p:nvSpPr>
        <p:spPr>
          <a:xfrm>
            <a:off x="10652526" y="6269678"/>
            <a:ext cx="987552"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17</a:t>
            </a:r>
          </a:p>
        </p:txBody>
      </p:sp>
    </p:spTree>
    <p:extLst>
      <p:ext uri="{BB962C8B-B14F-4D97-AF65-F5344CB8AC3E}">
        <p14:creationId xmlns:p14="http://schemas.microsoft.com/office/powerpoint/2010/main" val="3604185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04B45-C215-E5EC-4031-AE76BB9C11C3}"/>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F098249A-8DF9-5959-5CDE-16CC654C7A5E}"/>
              </a:ext>
            </a:extLst>
          </p:cNvPr>
          <p:cNvSpPr>
            <a:spLocks noChangeArrowheads="1"/>
          </p:cNvSpPr>
          <p:nvPr/>
        </p:nvSpPr>
        <p:spPr bwMode="auto">
          <a:xfrm>
            <a:off x="351692" y="1091660"/>
            <a:ext cx="10691446" cy="5005626"/>
          </a:xfrm>
          <a:prstGeom prst="round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en-US" sz="2400" dirty="0">
              <a:latin typeface="+mn-lt"/>
            </a:endParaRPr>
          </a:p>
          <a:p>
            <a:r>
              <a:rPr lang="en-US" sz="2400" b="1" dirty="0">
                <a:latin typeface="+mn-lt"/>
              </a:rPr>
              <a:t>Next Steps</a:t>
            </a:r>
          </a:p>
          <a:p>
            <a:pPr marL="342900" indent="-342900">
              <a:buFont typeface="Wingdings" panose="05000000000000000000" pitchFamily="2" charset="2"/>
              <a:buChar char="Ø"/>
            </a:pPr>
            <a:r>
              <a:rPr lang="en-US" sz="2400" dirty="0">
                <a:latin typeface="+mn-lt"/>
              </a:rPr>
              <a:t>Implement additional models (e.g., SVM, Neural Networks, Gradient Boosting variants). </a:t>
            </a:r>
          </a:p>
          <a:p>
            <a:pPr marL="342900" indent="-342900">
              <a:buFont typeface="Wingdings" panose="05000000000000000000" pitchFamily="2" charset="2"/>
              <a:buChar char="Ø"/>
            </a:pPr>
            <a:r>
              <a:rPr lang="en-US" sz="2400" dirty="0" err="1">
                <a:latin typeface="+mn-lt"/>
              </a:rPr>
              <a:t>Analyse</a:t>
            </a:r>
            <a:r>
              <a:rPr lang="en-US" sz="2400" dirty="0">
                <a:latin typeface="+mn-lt"/>
              </a:rPr>
              <a:t> and report False Positive Rate (FPR) alongside recall. </a:t>
            </a:r>
          </a:p>
          <a:p>
            <a:pPr marL="342900" indent="-342900">
              <a:buFont typeface="Wingdings" panose="05000000000000000000" pitchFamily="2" charset="2"/>
              <a:buChar char="Ø"/>
            </a:pPr>
            <a:r>
              <a:rPr lang="en-US" sz="2400" dirty="0">
                <a:latin typeface="+mn-lt"/>
              </a:rPr>
              <a:t>Further </a:t>
            </a:r>
            <a:r>
              <a:rPr lang="en-US" sz="2400" dirty="0" err="1">
                <a:latin typeface="+mn-lt"/>
              </a:rPr>
              <a:t>optimise</a:t>
            </a:r>
            <a:r>
              <a:rPr lang="en-US" sz="2400" dirty="0">
                <a:latin typeface="+mn-lt"/>
              </a:rPr>
              <a:t> models to improve cancer detection. </a:t>
            </a:r>
          </a:p>
          <a:p>
            <a:pPr marL="342900" indent="-342900">
              <a:buFont typeface="Wingdings" panose="05000000000000000000" pitchFamily="2" charset="2"/>
              <a:buChar char="Ø"/>
            </a:pPr>
            <a:r>
              <a:rPr lang="en-US" sz="2400" dirty="0">
                <a:latin typeface="+mn-lt"/>
              </a:rPr>
              <a:t>Complete write-up and prepare for viva.</a:t>
            </a:r>
          </a:p>
          <a:p>
            <a:pPr marL="342900" indent="-342900">
              <a:buFont typeface="Wingdings" panose="05000000000000000000" pitchFamily="2" charset="2"/>
              <a:buChar char="Ø"/>
            </a:pPr>
            <a:endParaRPr lang="en-US" sz="2400" dirty="0">
              <a:latin typeface="+mn-lt"/>
            </a:endParaRPr>
          </a:p>
          <a:p>
            <a:r>
              <a:rPr lang="en-US" sz="2400" b="1" dirty="0">
                <a:latin typeface="+mn-lt"/>
              </a:rPr>
              <a:t>CONCLUSION</a:t>
            </a:r>
          </a:p>
          <a:p>
            <a:pPr marL="342900" indent="-342900">
              <a:buFont typeface="Wingdings" panose="05000000000000000000" pitchFamily="2" charset="2"/>
              <a:buChar char="Ø"/>
            </a:pPr>
            <a:r>
              <a:rPr lang="en-US" sz="2400" dirty="0">
                <a:latin typeface="+mn-lt"/>
              </a:rPr>
              <a:t>Cervical cancer remains a growing and unevenly distributed challenge in West Africa, and improving early detection through better data and models is essential.</a:t>
            </a:r>
          </a:p>
        </p:txBody>
      </p:sp>
      <p:sp>
        <p:nvSpPr>
          <p:cNvPr id="6" name="Title 1">
            <a:extLst>
              <a:ext uri="{FF2B5EF4-FFF2-40B4-BE49-F238E27FC236}">
                <a16:creationId xmlns:a16="http://schemas.microsoft.com/office/drawing/2014/main" id="{4C8C9D4C-A608-7062-ABDC-3D7601E10895}"/>
              </a:ext>
            </a:extLst>
          </p:cNvPr>
          <p:cNvSpPr>
            <a:spLocks noGrp="1"/>
          </p:cNvSpPr>
          <p:nvPr>
            <p:ph type="ctrTitle"/>
          </p:nvPr>
        </p:nvSpPr>
        <p:spPr>
          <a:xfrm>
            <a:off x="2011681" y="760714"/>
            <a:ext cx="7920110" cy="634156"/>
          </a:xfrm>
          <a:prstGeom prst="round2SameRect">
            <a:avLst/>
          </a:prstGeom>
        </p:spPr>
        <p:style>
          <a:lnRef idx="2">
            <a:schemeClr val="dk1"/>
          </a:lnRef>
          <a:fillRef idx="1">
            <a:schemeClr val="lt1"/>
          </a:fillRef>
          <a:effectRef idx="0">
            <a:schemeClr val="dk1"/>
          </a:effectRef>
          <a:fontRef idx="minor">
            <a:schemeClr val="dk1"/>
          </a:fontRef>
        </p:style>
        <p:txBody>
          <a:bodyPr/>
          <a:lstStyle/>
          <a:p>
            <a:pPr algn="ctr"/>
            <a:r>
              <a:rPr lang="en-US" b="1" dirty="0"/>
              <a:t>SUMMARY AND conclusion</a:t>
            </a:r>
          </a:p>
        </p:txBody>
      </p:sp>
      <p:sp>
        <p:nvSpPr>
          <p:cNvPr id="2" name="Slide Number Placeholder 5">
            <a:extLst>
              <a:ext uri="{FF2B5EF4-FFF2-40B4-BE49-F238E27FC236}">
                <a16:creationId xmlns:a16="http://schemas.microsoft.com/office/drawing/2014/main" id="{2FDEF770-25D6-9DF2-6AA7-FEBF34CEC78A}"/>
              </a:ext>
            </a:extLst>
          </p:cNvPr>
          <p:cNvSpPr>
            <a:spLocks noGrp="1"/>
          </p:cNvSpPr>
          <p:nvPr/>
        </p:nvSpPr>
        <p:spPr>
          <a:xfrm>
            <a:off x="10638458" y="6269678"/>
            <a:ext cx="987552"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18</a:t>
            </a:r>
          </a:p>
        </p:txBody>
      </p:sp>
    </p:spTree>
    <p:extLst>
      <p:ext uri="{BB962C8B-B14F-4D97-AF65-F5344CB8AC3E}">
        <p14:creationId xmlns:p14="http://schemas.microsoft.com/office/powerpoint/2010/main" val="1953166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A448F-3490-5B85-BBE3-57A838066736}"/>
              </a:ext>
            </a:extLst>
          </p:cNvPr>
          <p:cNvSpPr>
            <a:spLocks noGrp="1"/>
          </p:cNvSpPr>
          <p:nvPr>
            <p:ph type="ctrTitle"/>
          </p:nvPr>
        </p:nvSpPr>
        <p:spPr>
          <a:xfrm>
            <a:off x="3774830" y="1051070"/>
            <a:ext cx="4179570" cy="566715"/>
          </a:xfrm>
          <a:prstGeom prst="round1Rect">
            <a:avLst/>
          </a:prstGeom>
        </p:spPr>
        <p:style>
          <a:lnRef idx="2">
            <a:schemeClr val="dk1"/>
          </a:lnRef>
          <a:fillRef idx="1">
            <a:schemeClr val="lt1"/>
          </a:fillRef>
          <a:effectRef idx="0">
            <a:schemeClr val="dk1"/>
          </a:effectRef>
          <a:fontRef idx="minor">
            <a:schemeClr val="dk1"/>
          </a:fontRef>
        </p:style>
        <p:txBody>
          <a:bodyPr/>
          <a:lstStyle/>
          <a:p>
            <a:pPr algn="ctr"/>
            <a:r>
              <a:rPr lang="en-US" b="1" dirty="0">
                <a:solidFill>
                  <a:schemeClr val="tx1"/>
                </a:solidFill>
              </a:rPr>
              <a:t>References</a:t>
            </a:r>
          </a:p>
        </p:txBody>
      </p:sp>
      <p:sp>
        <p:nvSpPr>
          <p:cNvPr id="3" name="Subtitle 2">
            <a:extLst>
              <a:ext uri="{FF2B5EF4-FFF2-40B4-BE49-F238E27FC236}">
                <a16:creationId xmlns:a16="http://schemas.microsoft.com/office/drawing/2014/main" id="{30176269-8D29-9656-88D2-D22BD6111903}"/>
              </a:ext>
            </a:extLst>
          </p:cNvPr>
          <p:cNvSpPr>
            <a:spLocks noGrp="1"/>
          </p:cNvSpPr>
          <p:nvPr>
            <p:ph type="subTitle" idx="1"/>
          </p:nvPr>
        </p:nvSpPr>
        <p:spPr>
          <a:xfrm>
            <a:off x="729908" y="1913207"/>
            <a:ext cx="9959926" cy="4259484"/>
          </a:xfrm>
          <a:prstGeom prst="roundRect">
            <a:avLst/>
          </a:prstGeom>
        </p:spPr>
        <p:style>
          <a:lnRef idx="2">
            <a:schemeClr val="dk1"/>
          </a:lnRef>
          <a:fillRef idx="1">
            <a:schemeClr val="lt1"/>
          </a:fillRef>
          <a:effectRef idx="0">
            <a:schemeClr val="dk1"/>
          </a:effectRef>
          <a:fontRef idx="minor">
            <a:schemeClr val="dk1"/>
          </a:fontRef>
        </p:style>
        <p:txBody>
          <a:bodyPr>
            <a:normAutofit fontScale="92500" lnSpcReduction="20000"/>
          </a:bodyPr>
          <a:lstStyle/>
          <a:p>
            <a:pPr marL="285750" indent="-285750">
              <a:buFont typeface="Wingdings" panose="05000000000000000000" pitchFamily="2" charset="2"/>
              <a:buChar char="Ø"/>
            </a:pPr>
            <a:r>
              <a:rPr lang="en-US" dirty="0">
                <a:solidFill>
                  <a:schemeClr val="tx1"/>
                </a:solidFill>
              </a:rPr>
              <a:t>Al </a:t>
            </a:r>
            <a:r>
              <a:rPr lang="en-US" dirty="0" err="1">
                <a:solidFill>
                  <a:schemeClr val="tx1"/>
                </a:solidFill>
              </a:rPr>
              <a:t>Mudawi</a:t>
            </a:r>
            <a:r>
              <a:rPr lang="en-US" dirty="0">
                <a:solidFill>
                  <a:schemeClr val="tx1"/>
                </a:solidFill>
              </a:rPr>
              <a:t>, N., &amp; </a:t>
            </a:r>
            <a:r>
              <a:rPr lang="en-US" dirty="0" err="1">
                <a:solidFill>
                  <a:schemeClr val="tx1"/>
                </a:solidFill>
              </a:rPr>
              <a:t>Alazeb</a:t>
            </a:r>
            <a:r>
              <a:rPr lang="en-US" dirty="0">
                <a:solidFill>
                  <a:schemeClr val="tx1"/>
                </a:solidFill>
              </a:rPr>
              <a:t>, A. (2022). A Model for Predicting Cervical Cancer Using Machine Learning Algorithms. </a:t>
            </a:r>
            <a:r>
              <a:rPr lang="en-US" i="1" dirty="0">
                <a:solidFill>
                  <a:schemeClr val="tx1"/>
                </a:solidFill>
              </a:rPr>
              <a:t>Sensors (Basel, Switzerland)</a:t>
            </a:r>
            <a:r>
              <a:rPr lang="en-US" dirty="0">
                <a:solidFill>
                  <a:schemeClr val="tx1"/>
                </a:solidFill>
              </a:rPr>
              <a:t>, </a:t>
            </a:r>
            <a:r>
              <a:rPr lang="en-US" i="1" dirty="0">
                <a:solidFill>
                  <a:schemeClr val="tx1"/>
                </a:solidFill>
              </a:rPr>
              <a:t>22</a:t>
            </a:r>
            <a:r>
              <a:rPr lang="en-US" dirty="0">
                <a:solidFill>
                  <a:schemeClr val="tx1"/>
                </a:solidFill>
              </a:rPr>
              <a:t>(11), 4132. https://doi.org/10.3390/s22114132</a:t>
            </a:r>
          </a:p>
          <a:p>
            <a:pPr marL="285750" indent="-285750">
              <a:buFont typeface="Wingdings" panose="05000000000000000000" pitchFamily="2" charset="2"/>
              <a:buChar char="Ø"/>
            </a:pPr>
            <a:r>
              <a:rPr lang="en-US" dirty="0">
                <a:solidFill>
                  <a:schemeClr val="tx1"/>
                </a:solidFill>
              </a:rPr>
              <a:t>Kaushik, K., Bhardwaj, A., </a:t>
            </a:r>
            <a:r>
              <a:rPr lang="en-US" dirty="0" err="1">
                <a:solidFill>
                  <a:schemeClr val="tx1"/>
                </a:solidFill>
              </a:rPr>
              <a:t>Bharany</a:t>
            </a:r>
            <a:r>
              <a:rPr lang="en-US" dirty="0">
                <a:solidFill>
                  <a:schemeClr val="tx1"/>
                </a:solidFill>
              </a:rPr>
              <a:t>, S., </a:t>
            </a:r>
            <a:r>
              <a:rPr lang="en-US" dirty="0" err="1">
                <a:solidFill>
                  <a:schemeClr val="tx1"/>
                </a:solidFill>
              </a:rPr>
              <a:t>Alsharabi</a:t>
            </a:r>
            <a:r>
              <a:rPr lang="en-US" dirty="0">
                <a:solidFill>
                  <a:schemeClr val="tx1"/>
                </a:solidFill>
              </a:rPr>
              <a:t>, N., Rehman, A. U., Eldin, E. T., &amp; </a:t>
            </a:r>
            <a:r>
              <a:rPr lang="en-US" dirty="0" err="1">
                <a:solidFill>
                  <a:schemeClr val="tx1"/>
                </a:solidFill>
              </a:rPr>
              <a:t>Ghamry</a:t>
            </a:r>
            <a:r>
              <a:rPr lang="en-US" dirty="0">
                <a:solidFill>
                  <a:schemeClr val="tx1"/>
                </a:solidFill>
              </a:rPr>
              <a:t>, N. A. (2022). A Machine Learning-Based Framework for the Prediction of Cervical Cancer Risk in Women.</a:t>
            </a:r>
          </a:p>
          <a:p>
            <a:pPr marL="285750" indent="-285750">
              <a:buFont typeface="Wingdings" panose="05000000000000000000" pitchFamily="2" charset="2"/>
              <a:buChar char="Ø"/>
            </a:pPr>
            <a:r>
              <a:rPr lang="en-US" dirty="0">
                <a:solidFill>
                  <a:schemeClr val="tx1"/>
                </a:solidFill>
              </a:rPr>
              <a:t>Mohi Uddin, Khandaker Mohammad &amp; Mamun, Abdullah &amp; Chakrabarti, Anamika &amp; </a:t>
            </a:r>
            <a:r>
              <a:rPr lang="en-US" dirty="0" err="1">
                <a:solidFill>
                  <a:schemeClr val="tx1"/>
                </a:solidFill>
              </a:rPr>
              <a:t>Mostafiz</a:t>
            </a:r>
            <a:r>
              <a:rPr lang="en-US" dirty="0">
                <a:solidFill>
                  <a:schemeClr val="tx1"/>
                </a:solidFill>
              </a:rPr>
              <a:t>, Rafid &amp; Dey, Samrat. (2024). An ensemble machine learning-based approach to predict cervical cancer using hybrid feature selection. Neuroscience Informatics. 4. 100169. 10.1016/j.neuri.2024.100169. </a:t>
            </a:r>
          </a:p>
        </p:txBody>
      </p:sp>
      <p:sp>
        <p:nvSpPr>
          <p:cNvPr id="4" name="Slide Number Placeholder 3">
            <a:extLst>
              <a:ext uri="{FF2B5EF4-FFF2-40B4-BE49-F238E27FC236}">
                <a16:creationId xmlns:a16="http://schemas.microsoft.com/office/drawing/2014/main" id="{D8CC13B0-0869-DB8F-DBDC-F4416ECCD9A4}"/>
              </a:ext>
            </a:extLst>
          </p:cNvPr>
          <p:cNvSpPr>
            <a:spLocks noGrp="1"/>
          </p:cNvSpPr>
          <p:nvPr>
            <p:ph type="sldNum" sz="quarter" idx="12"/>
          </p:nvPr>
        </p:nvSpPr>
        <p:spPr/>
        <p:txBody>
          <a:bodyPr/>
          <a:lstStyle/>
          <a:p>
            <a:fld id="{A49DFD55-3C28-40EF-9E31-A92D2E4017FF}" type="slidenum">
              <a:rPr lang="en-US" smtClean="0"/>
              <a:pPr/>
              <a:t>19</a:t>
            </a:fld>
            <a:endParaRPr lang="en-US" dirty="0"/>
          </a:p>
        </p:txBody>
      </p:sp>
    </p:spTree>
    <p:extLst>
      <p:ext uri="{BB962C8B-B14F-4D97-AF65-F5344CB8AC3E}">
        <p14:creationId xmlns:p14="http://schemas.microsoft.com/office/powerpoint/2010/main" val="1500674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095CE-AFE4-17E1-60DB-8C5E1914D1D6}"/>
              </a:ext>
            </a:extLst>
          </p:cNvPr>
          <p:cNvSpPr>
            <a:spLocks noGrp="1"/>
          </p:cNvSpPr>
          <p:nvPr>
            <p:ph type="ctrTitle"/>
          </p:nvPr>
        </p:nvSpPr>
        <p:spPr>
          <a:xfrm>
            <a:off x="3648221" y="886265"/>
            <a:ext cx="5439508" cy="3687784"/>
          </a:xfrm>
        </p:spPr>
        <p:txBody>
          <a:bodyPr/>
          <a:lstStyle/>
          <a:p>
            <a:r>
              <a:rPr lang="en-US" sz="7200" dirty="0"/>
              <a:t>Thank you for listening</a:t>
            </a:r>
          </a:p>
        </p:txBody>
      </p:sp>
      <p:sp>
        <p:nvSpPr>
          <p:cNvPr id="4" name="Slide Number Placeholder 3">
            <a:extLst>
              <a:ext uri="{FF2B5EF4-FFF2-40B4-BE49-F238E27FC236}">
                <a16:creationId xmlns:a16="http://schemas.microsoft.com/office/drawing/2014/main" id="{DCF57A37-E03B-E257-7BF1-048E7BE6D285}"/>
              </a:ext>
            </a:extLst>
          </p:cNvPr>
          <p:cNvSpPr>
            <a:spLocks noGrp="1"/>
          </p:cNvSpPr>
          <p:nvPr>
            <p:ph type="sldNum" sz="quarter" idx="12"/>
          </p:nvPr>
        </p:nvSpPr>
        <p:spPr/>
        <p:txBody>
          <a:bodyPr/>
          <a:lstStyle/>
          <a:p>
            <a:fld id="{A49DFD55-3C28-40EF-9E31-A92D2E4017FF}" type="slidenum">
              <a:rPr lang="en-US" smtClean="0"/>
              <a:pPr/>
              <a:t>20</a:t>
            </a:fld>
            <a:endParaRPr lang="en-US" dirty="0"/>
          </a:p>
        </p:txBody>
      </p:sp>
    </p:spTree>
    <p:extLst>
      <p:ext uri="{BB962C8B-B14F-4D97-AF65-F5344CB8AC3E}">
        <p14:creationId xmlns:p14="http://schemas.microsoft.com/office/powerpoint/2010/main" val="3597065627"/>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3.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Custom</Template>
  <TotalTime>749</TotalTime>
  <Words>1708</Words>
  <Application>Microsoft Office PowerPoint</Application>
  <PresentationFormat>Widescreen</PresentationFormat>
  <Paragraphs>190</Paragraphs>
  <Slides>20</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Georgia</vt:lpstr>
      <vt:lpstr>Tenorite</vt:lpstr>
      <vt:lpstr>Wingdings</vt:lpstr>
      <vt:lpstr>Custom</vt:lpstr>
      <vt:lpstr>Lifestyle-Based Cervical Cancer Risk Prediction and Population Burden Analysis in West Africa</vt:lpstr>
      <vt:lpstr>introduction</vt:lpstr>
      <vt:lpstr>Motivation</vt:lpstr>
      <vt:lpstr>Overview of Previous Work Related to the Project</vt:lpstr>
      <vt:lpstr>What this project will do</vt:lpstr>
      <vt:lpstr>Dataset description</vt:lpstr>
      <vt:lpstr>Ethical implications </vt:lpstr>
      <vt:lpstr>Exploratory Data Analysis</vt:lpstr>
      <vt:lpstr>PowerPoint Presentation</vt:lpstr>
      <vt:lpstr>Pre-processing</vt:lpstr>
      <vt:lpstr>MODELS USED</vt:lpstr>
      <vt:lpstr>Hyperparameter tuning</vt:lpstr>
      <vt:lpstr>MODEL RESULTS</vt:lpstr>
      <vt:lpstr>MODELS RESULTS</vt:lpstr>
      <vt:lpstr>PowerPoint Presentation</vt:lpstr>
      <vt:lpstr>Cervical Cancer Trends in West Africa</vt:lpstr>
      <vt:lpstr>Summary AND CONCLUSION</vt:lpstr>
      <vt:lpstr>SUMMARY AND conclusion</vt:lpstr>
      <vt:lpstr>References</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Omoniyi, Opeoluwa [Student-PECS]</dc:creator>
  <cp:lastModifiedBy>Ahmed Isa [Student-BUS]</cp:lastModifiedBy>
  <cp:revision>17</cp:revision>
  <dcterms:created xsi:type="dcterms:W3CDTF">2026-03-19T17:53:29Z</dcterms:created>
  <dcterms:modified xsi:type="dcterms:W3CDTF">2026-03-24T03:44:49Z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